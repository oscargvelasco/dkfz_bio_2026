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9" r:id="rId5"/>
  </p:sldMasterIdLst>
  <p:notesMasterIdLst>
    <p:notesMasterId r:id="rId40"/>
  </p:notesMasterIdLst>
  <p:handoutMasterIdLst>
    <p:handoutMasterId r:id="rId41"/>
  </p:handoutMasterIdLst>
  <p:sldIdLst>
    <p:sldId id="264" r:id="rId6"/>
    <p:sldId id="265" r:id="rId7"/>
    <p:sldId id="347" r:id="rId8"/>
    <p:sldId id="315" r:id="rId9"/>
    <p:sldId id="318" r:id="rId10"/>
    <p:sldId id="320" r:id="rId11"/>
    <p:sldId id="348" r:id="rId12"/>
    <p:sldId id="321" r:id="rId13"/>
    <p:sldId id="322" r:id="rId14"/>
    <p:sldId id="324" r:id="rId15"/>
    <p:sldId id="325" r:id="rId16"/>
    <p:sldId id="326" r:id="rId17"/>
    <p:sldId id="327" r:id="rId18"/>
    <p:sldId id="328" r:id="rId19"/>
    <p:sldId id="330" r:id="rId20"/>
    <p:sldId id="332" r:id="rId21"/>
    <p:sldId id="331" r:id="rId22"/>
    <p:sldId id="307" r:id="rId23"/>
    <p:sldId id="349" r:id="rId24"/>
    <p:sldId id="333" r:id="rId25"/>
    <p:sldId id="334" r:id="rId26"/>
    <p:sldId id="335" r:id="rId27"/>
    <p:sldId id="336" r:id="rId28"/>
    <p:sldId id="337" r:id="rId29"/>
    <p:sldId id="339" r:id="rId30"/>
    <p:sldId id="340" r:id="rId31"/>
    <p:sldId id="342" r:id="rId32"/>
    <p:sldId id="345" r:id="rId33"/>
    <p:sldId id="350" r:id="rId34"/>
    <p:sldId id="343" r:id="rId35"/>
    <p:sldId id="346" r:id="rId36"/>
    <p:sldId id="352" r:id="rId37"/>
    <p:sldId id="288" r:id="rId38"/>
    <p:sldId id="351" r:id="rId39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">
          <p15:clr>
            <a:srgbClr val="A4A3A4"/>
          </p15:clr>
        </p15:guide>
        <p15:guide id="2" pos="8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47B9"/>
    <a:srgbClr val="CC6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71" autoAdjust="0"/>
    <p:restoredTop sz="82965"/>
  </p:normalViewPr>
  <p:slideViewPr>
    <p:cSldViewPr>
      <p:cViewPr varScale="1">
        <p:scale>
          <a:sx n="120" d="100"/>
          <a:sy n="120" d="100"/>
        </p:scale>
        <p:origin x="1672" y="168"/>
      </p:cViewPr>
      <p:guideLst>
        <p:guide orient="horz" pos="350"/>
        <p:guide pos="8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219564-AE19-A54C-9048-0B9ABC52A624}" type="datetimeFigureOut">
              <a:rPr lang="de-DE" smtClean="0"/>
              <a:t>22.04.26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E4557-5E95-B344-93B5-A45D522D2C2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9059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FCBDABB7-0203-4F8F-9967-A92B52C4296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81414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fld id="{CB2EF8C1-7F79-40F6-9F52-84A08EC413E8}" type="slidenum">
              <a:rPr lang="en-US" sz="1800" b="0" strike="noStrike" spc="-1">
                <a:latin typeface="Arial"/>
              </a:rPr>
              <a:t>1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Warren McCulloch y </a:t>
            </a:r>
            <a:r>
              <a:rPr lang="en-GB" sz="1800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</a:t>
            </a:r>
            <a:r>
              <a:rPr lang="en-GB" sz="1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matemático</a:t>
            </a:r>
            <a:r>
              <a:rPr lang="en-GB" sz="1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Walter Pitts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DABB7-0203-4F8F-9967-A92B52C4296C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113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EF884-290B-00A3-F2F1-F15C2304C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D4FC1-655E-F19E-6743-9006C00CF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D00A0-D7D1-F3A0-E473-F790C544D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Warren McCulloch y </a:t>
            </a:r>
            <a:r>
              <a:rPr lang="en-GB" sz="1800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</a:t>
            </a:r>
            <a:r>
              <a:rPr lang="en-GB" sz="1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matemático</a:t>
            </a:r>
            <a:r>
              <a:rPr lang="en-GB" sz="1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Walter Pitts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EAD80-775E-C1B0-49EA-DCE7AAA4A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DABB7-0203-4F8F-9967-A92B52C4296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90383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92989-C1CC-85F6-D159-AA711E38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C4D73-C1AF-E526-EF7D-529F21B3A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262E5-83AB-FD7F-592C-1DAACE888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Warren McCulloch y </a:t>
            </a:r>
            <a:r>
              <a:rPr lang="en-GB" sz="1800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</a:t>
            </a:r>
            <a:r>
              <a:rPr lang="en-GB" sz="1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matemático</a:t>
            </a:r>
            <a:r>
              <a:rPr lang="en-GB" sz="18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Walter Pitts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3E1F9-53FD-A65C-DDB3-B5B5A929E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DABB7-0203-4F8F-9967-A92B52C4296C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087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1C17A-CECF-8A04-D17B-A667FD28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29F43-B29A-3EEC-9019-3A0BB10EF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55B7D-B52A-D2CF-D205-15E3038FE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B2698-8BEC-A39A-F20B-EE54372A1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DABB7-0203-4F8F-9967-A92B52C4296C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4711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Nabla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DABB7-0203-4F8F-9967-A92B52C4296C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883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E9B6E-2C45-B132-DC24-97B86284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D2E64-83E5-EDDB-417F-DC14BED1E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F6F3D4-CCCD-8EAA-3CF1-5BAD928E8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8EB94-8667-AB26-D5F8-49D62A17D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DABB7-0203-4F8F-9967-A92B52C4296C}" type="slidenum">
              <a:rPr lang="de-DE" smtClean="0"/>
              <a:pPr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6193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23DE-4B21-CF95-7E52-814B0E06B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C2742-F722-0A73-AA66-B969C9ED3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F4AF4-99DF-D64E-8A34-5C2A805A9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B1C30-35CE-1578-4908-CC70CB4AD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BDABB7-0203-4F8F-9967-A92B52C4296C}" type="slidenum">
              <a:rPr lang="de-DE" smtClean="0"/>
              <a:pPr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630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F4BC8-65BF-4DC7-15A2-4A288546C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>
            <a:extLst>
              <a:ext uri="{FF2B5EF4-FFF2-40B4-BE49-F238E27FC236}">
                <a16:creationId xmlns:a16="http://schemas.microsoft.com/office/drawing/2014/main" id="{08C6B58E-63A5-3BBD-8D1F-4A91F32CC6DF}"/>
              </a:ext>
            </a:extLst>
          </p:cNvPr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fld id="{CB2EF8C1-7F79-40F6-9F52-84A08EC413E8}" type="slidenum">
              <a:rPr lang="en-US" sz="1800" b="0" strike="noStrike" spc="-1">
                <a:latin typeface="Arial"/>
              </a:rPr>
              <a:t>34</a:t>
            </a:fld>
            <a:endParaRPr lang="en-US" sz="1800" b="0" strike="noStrike" spc="-1">
              <a:latin typeface="Arial"/>
            </a:endParaRPr>
          </a:p>
        </p:txBody>
      </p:sp>
      <p:sp>
        <p:nvSpPr>
          <p:cNvPr id="217" name="PlaceHolder 2">
            <a:extLst>
              <a:ext uri="{FF2B5EF4-FFF2-40B4-BE49-F238E27FC236}">
                <a16:creationId xmlns:a16="http://schemas.microsoft.com/office/drawing/2014/main" id="{000ED26B-65D4-1F99-BF8C-5CC67ECF833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9883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/>
          <p:cNvSpPr>
            <a:spLocks noChangeArrowheads="1"/>
          </p:cNvSpPr>
          <p:nvPr/>
        </p:nvSpPr>
        <p:spPr bwMode="auto">
          <a:xfrm>
            <a:off x="0" y="0"/>
            <a:ext cx="9144000" cy="4354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5" name="Line 35"/>
          <p:cNvSpPr>
            <a:spLocks noChangeShapeType="1"/>
          </p:cNvSpPr>
          <p:nvPr/>
        </p:nvSpPr>
        <p:spPr bwMode="auto">
          <a:xfrm flipV="1">
            <a:off x="1600200" y="3450431"/>
            <a:ext cx="0" cy="628650"/>
          </a:xfrm>
          <a:prstGeom prst="line">
            <a:avLst/>
          </a:prstGeom>
          <a:noFill/>
          <a:ln w="1143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6" name="Line 40"/>
          <p:cNvSpPr>
            <a:spLocks noChangeShapeType="1"/>
          </p:cNvSpPr>
          <p:nvPr/>
        </p:nvSpPr>
        <p:spPr bwMode="auto">
          <a:xfrm flipV="1">
            <a:off x="1600200" y="0"/>
            <a:ext cx="0" cy="628650"/>
          </a:xfrm>
          <a:prstGeom prst="line">
            <a:avLst/>
          </a:prstGeom>
          <a:noFill/>
          <a:ln w="1143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pic>
        <p:nvPicPr>
          <p:cNvPr id="7" name="Picture 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74476" y="4465787"/>
            <a:ext cx="2318004" cy="65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1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1568450" y="1275607"/>
            <a:ext cx="6365875" cy="1728192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defRPr sz="3200"/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3" name="Rectangle 3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568450" y="3381890"/>
            <a:ext cx="6400800" cy="360040"/>
          </a:xfrm>
          <a:prstGeom prst="rect">
            <a:avLst/>
          </a:prstGeom>
        </p:spPr>
        <p:txBody>
          <a:bodyPr/>
          <a:lstStyle>
            <a:lvl1pPr marL="0" indent="0">
              <a:buFont typeface="Times" charset="0"/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62356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2" descr="DKFZ_Aussenaufnahme_09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9" b="25704"/>
          <a:stretch/>
        </p:blipFill>
        <p:spPr bwMode="auto">
          <a:xfrm>
            <a:off x="0" y="4763"/>
            <a:ext cx="9162000" cy="429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7"/>
          <p:cNvSpPr>
            <a:spLocks noChangeArrowheads="1"/>
          </p:cNvSpPr>
          <p:nvPr/>
        </p:nvSpPr>
        <p:spPr bwMode="auto">
          <a:xfrm>
            <a:off x="0" y="4342210"/>
            <a:ext cx="9144000" cy="789384"/>
          </a:xfrm>
          <a:prstGeom prst="rect">
            <a:avLst/>
          </a:prstGeom>
          <a:solidFill>
            <a:srgbClr val="0047B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de-DE"/>
          </a:p>
        </p:txBody>
      </p:sp>
      <p:sp>
        <p:nvSpPr>
          <p:cNvPr id="4" name="Line 35"/>
          <p:cNvSpPr>
            <a:spLocks noChangeShapeType="1"/>
          </p:cNvSpPr>
          <p:nvPr/>
        </p:nvSpPr>
        <p:spPr bwMode="auto">
          <a:xfrm flipV="1">
            <a:off x="1600200" y="3450431"/>
            <a:ext cx="0" cy="628650"/>
          </a:xfrm>
          <a:prstGeom prst="line">
            <a:avLst/>
          </a:prstGeom>
          <a:noFill/>
          <a:ln w="1143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5" name="Line 40"/>
          <p:cNvSpPr>
            <a:spLocks noChangeShapeType="1"/>
          </p:cNvSpPr>
          <p:nvPr/>
        </p:nvSpPr>
        <p:spPr bwMode="auto">
          <a:xfrm flipV="1">
            <a:off x="1600200" y="0"/>
            <a:ext cx="0" cy="628650"/>
          </a:xfrm>
          <a:prstGeom prst="line">
            <a:avLst/>
          </a:prstGeom>
          <a:noFill/>
          <a:ln w="1143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6" name="Line 40"/>
          <p:cNvSpPr>
            <a:spLocks noChangeShapeType="1"/>
          </p:cNvSpPr>
          <p:nvPr/>
        </p:nvSpPr>
        <p:spPr bwMode="auto">
          <a:xfrm flipV="1">
            <a:off x="1594711" y="4763"/>
            <a:ext cx="0" cy="628650"/>
          </a:xfrm>
          <a:prstGeom prst="line">
            <a:avLst/>
          </a:prstGeom>
          <a:noFill/>
          <a:ln w="1143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pic>
        <p:nvPicPr>
          <p:cNvPr id="8" name="Picture 3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74476" y="4465787"/>
            <a:ext cx="2318004" cy="65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195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06" b="7431"/>
          <a:stretch/>
        </p:blipFill>
        <p:spPr bwMode="auto">
          <a:xfrm>
            <a:off x="0" y="-54472"/>
            <a:ext cx="9162288" cy="5218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7"/>
          <p:cNvSpPr>
            <a:spLocks noChangeArrowheads="1"/>
          </p:cNvSpPr>
          <p:nvPr/>
        </p:nvSpPr>
        <p:spPr bwMode="auto">
          <a:xfrm>
            <a:off x="0" y="4362530"/>
            <a:ext cx="9180512" cy="801290"/>
          </a:xfrm>
          <a:prstGeom prst="rect">
            <a:avLst/>
          </a:prstGeom>
          <a:solidFill>
            <a:srgbClr val="0047B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de-DE"/>
          </a:p>
        </p:txBody>
      </p:sp>
      <p:sp>
        <p:nvSpPr>
          <p:cNvPr id="4" name="Line 35"/>
          <p:cNvSpPr>
            <a:spLocks noChangeShapeType="1"/>
          </p:cNvSpPr>
          <p:nvPr/>
        </p:nvSpPr>
        <p:spPr bwMode="auto">
          <a:xfrm flipV="1">
            <a:off x="1600200" y="3450431"/>
            <a:ext cx="0" cy="628650"/>
          </a:xfrm>
          <a:prstGeom prst="line">
            <a:avLst/>
          </a:prstGeom>
          <a:noFill/>
          <a:ln w="1143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5" name="Line 40"/>
          <p:cNvSpPr>
            <a:spLocks noChangeShapeType="1"/>
          </p:cNvSpPr>
          <p:nvPr/>
        </p:nvSpPr>
        <p:spPr bwMode="auto">
          <a:xfrm flipV="1">
            <a:off x="1600200" y="-65485"/>
            <a:ext cx="0" cy="628651"/>
          </a:xfrm>
          <a:prstGeom prst="line">
            <a:avLst/>
          </a:prstGeom>
          <a:noFill/>
          <a:ln w="1143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pic>
        <p:nvPicPr>
          <p:cNvPr id="7" name="Picture 3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74476" y="4465787"/>
            <a:ext cx="2318004" cy="65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580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6"/>
          <p:cNvSpPr>
            <a:spLocks noChangeArrowheads="1"/>
          </p:cNvSpPr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5" name="Rectangle 46"/>
          <p:cNvSpPr>
            <a:spLocks noChangeArrowheads="1"/>
          </p:cNvSpPr>
          <p:nvPr userDrawn="1"/>
        </p:nvSpPr>
        <p:spPr bwMode="auto">
          <a:xfrm>
            <a:off x="0" y="4744641"/>
            <a:ext cx="9144000" cy="404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  <a:cs typeface="ＭＳ Ｐゴシック" charset="0"/>
            </a:endParaRPr>
          </a:p>
        </p:txBody>
      </p:sp>
      <p:pic>
        <p:nvPicPr>
          <p:cNvPr id="9" name="Picture 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154" y="4831556"/>
            <a:ext cx="805434" cy="23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64"/>
          <p:cNvSpPr>
            <a:spLocks noChangeArrowheads="1"/>
          </p:cNvSpPr>
          <p:nvPr/>
        </p:nvSpPr>
        <p:spPr bwMode="black">
          <a:xfrm>
            <a:off x="65088" y="4837728"/>
            <a:ext cx="8382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fld id="{B1A1AD77-1740-4E04-9CDF-8840FAFA6FED}" type="datetime1">
              <a:rPr lang="en-US" sz="900">
                <a:solidFill>
                  <a:schemeClr val="bg2"/>
                </a:solidFill>
                <a:latin typeface="Arial" pitchFamily="34" charset="0"/>
              </a:rPr>
              <a:pPr/>
              <a:t>4/22/26</a:t>
            </a:fld>
            <a:r>
              <a:rPr lang="en-US" sz="900" dirty="0">
                <a:solidFill>
                  <a:schemeClr val="bg2"/>
                </a:solidFill>
                <a:latin typeface="Arial" pitchFamily="34" charset="0"/>
              </a:rPr>
              <a:t>   |</a:t>
            </a:r>
          </a:p>
        </p:txBody>
      </p:sp>
      <p:sp>
        <p:nvSpPr>
          <p:cNvPr id="2" name="Textfeld 1"/>
          <p:cNvSpPr txBox="1"/>
          <p:nvPr userDrawn="1"/>
        </p:nvSpPr>
        <p:spPr>
          <a:xfrm>
            <a:off x="755576" y="4837728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solidFill>
                  <a:srgbClr val="FFFFFF"/>
                </a:solidFill>
                <a:latin typeface="Arial"/>
              </a:rPr>
              <a:t>Page</a:t>
            </a:r>
            <a:r>
              <a:rPr lang="de-DE" sz="900" baseline="0" dirty="0">
                <a:solidFill>
                  <a:srgbClr val="FFFFFF"/>
                </a:solidFill>
                <a:latin typeface="Arial"/>
              </a:rPr>
              <a:t> </a:t>
            </a:r>
            <a:fld id="{F65F0E4A-FEB8-E34F-8DF3-6D8890BA47FE}" type="slidenum">
              <a:rPr lang="de-DE" sz="900" baseline="0" smtClean="0">
                <a:solidFill>
                  <a:srgbClr val="FFFFFF"/>
                </a:solidFill>
                <a:latin typeface="Arial"/>
              </a:rPr>
              <a:t>‹#›</a:t>
            </a:fld>
            <a:endParaRPr lang="de-DE" sz="900" dirty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1496646" y="535603"/>
            <a:ext cx="5415880" cy="3968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7B9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1321145" y="1361103"/>
            <a:ext cx="7239000" cy="2866831"/>
          </a:xfrm>
          <a:prstGeom prst="rect">
            <a:avLst/>
          </a:prstGeom>
        </p:spPr>
        <p:txBody>
          <a:bodyPr/>
          <a:lstStyle>
            <a:lvl1pPr>
              <a:buClr>
                <a:srgbClr val="0047B9"/>
              </a:buClr>
              <a:defRPr>
                <a:solidFill>
                  <a:srgbClr val="000000"/>
                </a:solidFill>
              </a:defRPr>
            </a:lvl1pPr>
            <a:lvl2pPr>
              <a:buClr>
                <a:srgbClr val="0047B9"/>
              </a:buClr>
              <a:defRPr>
                <a:solidFill>
                  <a:srgbClr val="000000"/>
                </a:solidFill>
              </a:defRPr>
            </a:lvl2pPr>
            <a:lvl3pPr>
              <a:buClr>
                <a:srgbClr val="0047B9"/>
              </a:buClr>
              <a:defRPr>
                <a:solidFill>
                  <a:srgbClr val="000000"/>
                </a:solidFill>
              </a:defRPr>
            </a:lvl3pPr>
            <a:lvl4pPr>
              <a:buClr>
                <a:srgbClr val="0047B9"/>
              </a:buClr>
              <a:defRPr>
                <a:solidFill>
                  <a:srgbClr val="000000"/>
                </a:solidFill>
              </a:defRPr>
            </a:lvl4pPr>
            <a:lvl5pPr>
              <a:buClr>
                <a:srgbClr val="0047B9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5917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eer Opportun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6"/>
          <p:cNvSpPr>
            <a:spLocks noChangeArrowheads="1"/>
          </p:cNvSpPr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4" name="Rectangle 46"/>
          <p:cNvSpPr>
            <a:spLocks noChangeArrowheads="1"/>
          </p:cNvSpPr>
          <p:nvPr userDrawn="1"/>
        </p:nvSpPr>
        <p:spPr bwMode="auto">
          <a:xfrm>
            <a:off x="0" y="4744641"/>
            <a:ext cx="9144000" cy="404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Rectangle 64"/>
          <p:cNvSpPr>
            <a:spLocks noChangeArrowheads="1"/>
          </p:cNvSpPr>
          <p:nvPr userDrawn="1"/>
        </p:nvSpPr>
        <p:spPr bwMode="black">
          <a:xfrm>
            <a:off x="65088" y="4848225"/>
            <a:ext cx="8382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fld id="{1DCE3453-E6D5-42C2-89F0-3C84368FCA13}" type="datetime1">
              <a:rPr lang="en-US" sz="900">
                <a:solidFill>
                  <a:schemeClr val="bg2"/>
                </a:solidFill>
                <a:latin typeface="Arial" pitchFamily="34" charset="0"/>
              </a:rPr>
              <a:pPr/>
              <a:t>4/22/26</a:t>
            </a:fld>
            <a:r>
              <a:rPr lang="en-US" sz="900" dirty="0">
                <a:solidFill>
                  <a:schemeClr val="bg2"/>
                </a:solidFill>
                <a:latin typeface="Arial" pitchFamily="34" charset="0"/>
              </a:rPr>
              <a:t>   |</a:t>
            </a:r>
          </a:p>
        </p:txBody>
      </p:sp>
      <p:pic>
        <p:nvPicPr>
          <p:cNvPr id="9" name="Picture 5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154" y="4831556"/>
            <a:ext cx="805434" cy="23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feld 32"/>
          <p:cNvSpPr txBox="1"/>
          <p:nvPr/>
        </p:nvSpPr>
        <p:spPr>
          <a:xfrm>
            <a:off x="5752651" y="4198317"/>
            <a:ext cx="2779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dirty="0" err="1">
                <a:solidFill>
                  <a:srgbClr val="0047B9"/>
                </a:solidFill>
                <a:latin typeface="+mj-lt"/>
              </a:rPr>
              <a:t>www.dkfz.de</a:t>
            </a:r>
            <a:endParaRPr lang="en-GB" sz="2400" b="1" dirty="0">
              <a:solidFill>
                <a:srgbClr val="0047B9"/>
              </a:solidFill>
              <a:latin typeface="+mj-lt"/>
            </a:endParaRPr>
          </a:p>
        </p:txBody>
      </p:sp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8" t="3733" r="697" b="3943"/>
          <a:stretch/>
        </p:blipFill>
        <p:spPr bwMode="auto">
          <a:xfrm>
            <a:off x="3122923" y="-20538"/>
            <a:ext cx="2887992" cy="2010439"/>
          </a:xfrm>
          <a:prstGeom prst="rect">
            <a:avLst/>
          </a:prstGeom>
          <a:noFill/>
          <a:ln w="889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9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" r="4658" b="11966"/>
          <a:stretch/>
        </p:blipFill>
        <p:spPr bwMode="auto">
          <a:xfrm>
            <a:off x="-12328" y="-21474"/>
            <a:ext cx="2918088" cy="2004529"/>
          </a:xfrm>
          <a:prstGeom prst="rect">
            <a:avLst/>
          </a:prstGeom>
          <a:noFill/>
          <a:ln w="889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17961" dir="2700000" algn="ctr" rotWithShape="0">
                    <a:srgbClr val="2F4D71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6" name="Picture 10"/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07" t="9632" r="6651" b="19658"/>
          <a:stretch/>
        </p:blipFill>
        <p:spPr bwMode="auto">
          <a:xfrm>
            <a:off x="6228079" y="-2690"/>
            <a:ext cx="2909913" cy="1985745"/>
          </a:xfrm>
          <a:prstGeom prst="rect">
            <a:avLst/>
          </a:prstGeom>
          <a:noFill/>
          <a:ln w="889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feld 36"/>
          <p:cNvSpPr txBox="1"/>
          <p:nvPr/>
        </p:nvSpPr>
        <p:spPr>
          <a:xfrm>
            <a:off x="415875" y="2070016"/>
            <a:ext cx="8472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0047B9"/>
                </a:solidFill>
                <a:latin typeface="+mn-lt"/>
              </a:rPr>
              <a:t>The German Cancer Research </a:t>
            </a:r>
            <a:r>
              <a:rPr lang="en-GB" sz="1600" dirty="0" err="1">
                <a:solidFill>
                  <a:srgbClr val="0047B9"/>
                </a:solidFill>
                <a:latin typeface="+mn-lt"/>
              </a:rPr>
              <a:t>Center</a:t>
            </a:r>
            <a:r>
              <a:rPr lang="en-GB" sz="1600" dirty="0">
                <a:solidFill>
                  <a:srgbClr val="0047B9"/>
                </a:solidFill>
                <a:latin typeface="+mn-lt"/>
              </a:rPr>
              <a:t> (DKFZ) in Heidelberg</a:t>
            </a:r>
          </a:p>
          <a:p>
            <a:r>
              <a:rPr lang="en-GB" sz="2400" b="1" dirty="0">
                <a:solidFill>
                  <a:srgbClr val="0047B9"/>
                </a:solidFill>
                <a:latin typeface="+mn-lt"/>
              </a:rPr>
              <a:t>Innovative Cancer Research in a Historic City 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420397" y="2859782"/>
            <a:ext cx="584400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200" b="1" i="1" dirty="0">
                <a:latin typeface="+mj-lt"/>
              </a:rPr>
              <a:t>Career Opportunities at all Levels:</a:t>
            </a:r>
          </a:p>
          <a:p>
            <a:pPr marL="342900" indent="-250825">
              <a:buClr>
                <a:srgbClr val="0047B9"/>
              </a:buClr>
              <a:buFont typeface="Arial"/>
              <a:buChar char="•"/>
            </a:pPr>
            <a:r>
              <a:rPr lang="en-GB" sz="1800" dirty="0">
                <a:latin typeface="+mj-lt"/>
              </a:rPr>
              <a:t>Professors</a:t>
            </a:r>
          </a:p>
          <a:p>
            <a:pPr marL="342900" indent="-250825">
              <a:buClr>
                <a:srgbClr val="0047B9"/>
              </a:buClr>
              <a:buFont typeface="Arial"/>
              <a:buChar char="•"/>
            </a:pPr>
            <a:r>
              <a:rPr lang="en-GB" sz="1800" dirty="0">
                <a:latin typeface="+mj-lt"/>
              </a:rPr>
              <a:t>Junior Group Leaders</a:t>
            </a:r>
          </a:p>
          <a:p>
            <a:pPr marL="342900" indent="-250825">
              <a:buClr>
                <a:srgbClr val="0047B9"/>
              </a:buClr>
              <a:buFont typeface="Arial"/>
              <a:buChar char="•"/>
            </a:pPr>
            <a:r>
              <a:rPr lang="en-GB" sz="1800" dirty="0">
                <a:latin typeface="+mj-lt"/>
              </a:rPr>
              <a:t>Postdocs</a:t>
            </a:r>
          </a:p>
          <a:p>
            <a:pPr marL="342900" indent="-250825">
              <a:buClr>
                <a:srgbClr val="0047B9"/>
              </a:buClr>
              <a:buFont typeface="Arial"/>
              <a:buChar char="•"/>
            </a:pPr>
            <a:r>
              <a:rPr lang="en-GB" sz="1800" dirty="0">
                <a:latin typeface="+mj-lt"/>
              </a:rPr>
              <a:t>PhD and MSc Students</a:t>
            </a:r>
          </a:p>
        </p:txBody>
      </p:sp>
      <p:sp>
        <p:nvSpPr>
          <p:cNvPr id="12" name="Textfeld 11"/>
          <p:cNvSpPr txBox="1"/>
          <p:nvPr userDrawn="1"/>
        </p:nvSpPr>
        <p:spPr>
          <a:xfrm>
            <a:off x="755576" y="4848225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solidFill>
                  <a:srgbClr val="FFFFFF"/>
                </a:solidFill>
                <a:latin typeface="Arial"/>
              </a:rPr>
              <a:t>Page</a:t>
            </a:r>
            <a:r>
              <a:rPr lang="de-DE" sz="900" baseline="0" dirty="0">
                <a:solidFill>
                  <a:srgbClr val="FFFFFF"/>
                </a:solidFill>
                <a:latin typeface="Arial"/>
              </a:rPr>
              <a:t> </a:t>
            </a:r>
            <a:fld id="{F65F0E4A-FEB8-E34F-8DF3-6D8890BA47FE}" type="slidenum">
              <a:rPr lang="de-DE" sz="900" baseline="0" smtClean="0">
                <a:solidFill>
                  <a:srgbClr val="FFFFFF"/>
                </a:solidFill>
                <a:latin typeface="Arial"/>
              </a:rPr>
              <a:t>‹#›</a:t>
            </a:fld>
            <a:endParaRPr lang="de-DE" sz="900" dirty="0" err="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3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2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6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9" name="Rectangle 46"/>
          <p:cNvSpPr>
            <a:spLocks noChangeArrowheads="1"/>
          </p:cNvSpPr>
          <p:nvPr userDrawn="1"/>
        </p:nvSpPr>
        <p:spPr bwMode="auto">
          <a:xfrm>
            <a:off x="0" y="4744641"/>
            <a:ext cx="9144000" cy="404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Rectangle 64"/>
          <p:cNvSpPr>
            <a:spLocks noChangeArrowheads="1"/>
          </p:cNvSpPr>
          <p:nvPr/>
        </p:nvSpPr>
        <p:spPr bwMode="black">
          <a:xfrm>
            <a:off x="65088" y="4848225"/>
            <a:ext cx="8382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fld id="{E3F2E1BD-1E06-4289-8D48-DC46A7EB21A8}" type="datetime1">
              <a:rPr lang="en-US" sz="900" smtClean="0">
                <a:solidFill>
                  <a:schemeClr val="bg2"/>
                </a:solidFill>
                <a:latin typeface="Arial" pitchFamily="34" charset="0"/>
              </a:rPr>
              <a:pPr/>
              <a:t>4/22/26</a:t>
            </a:fld>
            <a:r>
              <a:rPr lang="en-US" sz="900" dirty="0">
                <a:solidFill>
                  <a:schemeClr val="bg2"/>
                </a:solidFill>
                <a:latin typeface="Arial" pitchFamily="34" charset="0"/>
              </a:rPr>
              <a:t>   |</a:t>
            </a:r>
          </a:p>
        </p:txBody>
      </p:sp>
      <p:pic>
        <p:nvPicPr>
          <p:cNvPr id="10" name="Picture 5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154" y="4831556"/>
            <a:ext cx="805434" cy="23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feld 10"/>
          <p:cNvSpPr txBox="1"/>
          <p:nvPr userDrawn="1"/>
        </p:nvSpPr>
        <p:spPr>
          <a:xfrm>
            <a:off x="755576" y="4848225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solidFill>
                  <a:srgbClr val="FFFFFF"/>
                </a:solidFill>
                <a:latin typeface="Arial"/>
              </a:rPr>
              <a:t>Page</a:t>
            </a:r>
            <a:r>
              <a:rPr lang="de-DE" sz="900" baseline="0" dirty="0">
                <a:solidFill>
                  <a:srgbClr val="FFFFFF"/>
                </a:solidFill>
                <a:latin typeface="Arial"/>
              </a:rPr>
              <a:t> </a:t>
            </a:r>
            <a:fld id="{F65F0E4A-FEB8-E34F-8DF3-6D8890BA47FE}" type="slidenum">
              <a:rPr lang="de-DE" sz="900" baseline="0" smtClean="0">
                <a:solidFill>
                  <a:srgbClr val="FFFFFF"/>
                </a:solidFill>
                <a:latin typeface="Arial"/>
              </a:rPr>
              <a:t>‹#›</a:t>
            </a:fld>
            <a:endParaRPr lang="de-DE" sz="900" dirty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itel 1"/>
          <p:cNvSpPr>
            <a:spLocks noGrp="1"/>
          </p:cNvSpPr>
          <p:nvPr>
            <p:ph type="title"/>
          </p:nvPr>
        </p:nvSpPr>
        <p:spPr>
          <a:xfrm>
            <a:off x="571037" y="515009"/>
            <a:ext cx="5415880" cy="39687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47B9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16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1560" y="1131590"/>
            <a:ext cx="4187825" cy="3303216"/>
          </a:xfrm>
          <a:prstGeom prst="rect">
            <a:avLst/>
          </a:prstGeom>
        </p:spPr>
        <p:txBody>
          <a:bodyPr/>
          <a:lstStyle>
            <a:lvl1pPr>
              <a:buClr>
                <a:srgbClr val="0047B9"/>
              </a:buClr>
              <a:buSzPct val="100000"/>
              <a:defRPr sz="2200">
                <a:solidFill>
                  <a:srgbClr val="000000"/>
                </a:solidFill>
              </a:defRPr>
            </a:lvl1pPr>
            <a:lvl2pPr>
              <a:buClr>
                <a:srgbClr val="0047B9"/>
              </a:buClr>
              <a:buSzPct val="100000"/>
              <a:defRPr sz="2000">
                <a:solidFill>
                  <a:srgbClr val="000000"/>
                </a:solidFill>
              </a:defRPr>
            </a:lvl2pPr>
            <a:lvl3pPr>
              <a:buClr>
                <a:srgbClr val="0047B9"/>
              </a:buClr>
              <a:buSzPct val="100000"/>
              <a:defRPr sz="1800">
                <a:solidFill>
                  <a:srgbClr val="000000"/>
                </a:solidFill>
              </a:defRPr>
            </a:lvl3pPr>
            <a:lvl4pPr>
              <a:buClr>
                <a:srgbClr val="0047B9"/>
              </a:buClr>
              <a:buSzPct val="100000"/>
              <a:defRPr sz="1600">
                <a:solidFill>
                  <a:srgbClr val="000000"/>
                </a:solidFill>
              </a:defRPr>
            </a:lvl4pPr>
            <a:lvl5pPr>
              <a:buClr>
                <a:srgbClr val="0047B9"/>
              </a:buClr>
              <a:buSzPct val="100000"/>
              <a:defRPr sz="1600">
                <a:solidFill>
                  <a:srgbClr val="00000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17" name="Inhaltsplatzhalter 5"/>
          <p:cNvSpPr>
            <a:spLocks noGrp="1"/>
          </p:cNvSpPr>
          <p:nvPr>
            <p:ph sz="quarter" idx="4"/>
          </p:nvPr>
        </p:nvSpPr>
        <p:spPr>
          <a:xfrm>
            <a:off x="4860032" y="1131590"/>
            <a:ext cx="4104455" cy="3303216"/>
          </a:xfrm>
          <a:prstGeom prst="rect">
            <a:avLst/>
          </a:prstGeom>
        </p:spPr>
        <p:txBody>
          <a:bodyPr/>
          <a:lstStyle>
            <a:lvl1pPr>
              <a:buClr>
                <a:srgbClr val="0047B9"/>
              </a:buClr>
              <a:buSzPct val="100000"/>
              <a:defRPr sz="2200">
                <a:solidFill>
                  <a:srgbClr val="000000"/>
                </a:solidFill>
              </a:defRPr>
            </a:lvl1pPr>
            <a:lvl2pPr>
              <a:buClr>
                <a:srgbClr val="0047B9"/>
              </a:buClr>
              <a:buSzPct val="100000"/>
              <a:defRPr sz="2000">
                <a:solidFill>
                  <a:srgbClr val="000000"/>
                </a:solidFill>
              </a:defRPr>
            </a:lvl2pPr>
            <a:lvl3pPr>
              <a:buClr>
                <a:srgbClr val="0047B9"/>
              </a:buClr>
              <a:buSzPct val="100000"/>
              <a:defRPr sz="1800">
                <a:solidFill>
                  <a:srgbClr val="000000"/>
                </a:solidFill>
              </a:defRPr>
            </a:lvl3pPr>
            <a:lvl4pPr>
              <a:buClr>
                <a:srgbClr val="0047B9"/>
              </a:buClr>
              <a:buSzPct val="100000"/>
              <a:defRPr sz="1600">
                <a:solidFill>
                  <a:srgbClr val="000000"/>
                </a:solidFill>
              </a:defRPr>
            </a:lvl4pPr>
            <a:lvl5pPr>
              <a:buClr>
                <a:srgbClr val="0047B9"/>
              </a:buClr>
              <a:buSzPct val="100000"/>
              <a:defRPr sz="1600">
                <a:solidFill>
                  <a:srgbClr val="00000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073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eader + 2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6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10" name="Rectangle 46"/>
          <p:cNvSpPr>
            <a:spLocks noChangeArrowheads="1"/>
          </p:cNvSpPr>
          <p:nvPr/>
        </p:nvSpPr>
        <p:spPr bwMode="auto">
          <a:xfrm>
            <a:off x="0" y="4744641"/>
            <a:ext cx="9144000" cy="404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Rectangle 64"/>
          <p:cNvSpPr>
            <a:spLocks noChangeArrowheads="1"/>
          </p:cNvSpPr>
          <p:nvPr/>
        </p:nvSpPr>
        <p:spPr bwMode="black">
          <a:xfrm>
            <a:off x="65088" y="4848225"/>
            <a:ext cx="8382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fld id="{A61A67D2-FDC8-4CBE-B66E-8ED8F0652EFF}" type="datetime1">
              <a:rPr lang="en-US" sz="900" smtClean="0">
                <a:solidFill>
                  <a:schemeClr val="bg2"/>
                </a:solidFill>
                <a:latin typeface="Arial" pitchFamily="34" charset="0"/>
              </a:rPr>
              <a:pPr/>
              <a:t>4/22/26</a:t>
            </a:fld>
            <a:r>
              <a:rPr lang="en-US" sz="900" dirty="0">
                <a:solidFill>
                  <a:schemeClr val="bg2"/>
                </a:solidFill>
                <a:latin typeface="Arial" pitchFamily="34" charset="0"/>
              </a:rPr>
              <a:t>   |</a:t>
            </a:r>
          </a:p>
        </p:txBody>
      </p:sp>
      <p:pic>
        <p:nvPicPr>
          <p:cNvPr id="11" name="Picture 5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154" y="4831556"/>
            <a:ext cx="805434" cy="23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feld 11"/>
          <p:cNvSpPr txBox="1"/>
          <p:nvPr userDrawn="1"/>
        </p:nvSpPr>
        <p:spPr>
          <a:xfrm>
            <a:off x="755576" y="4848225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solidFill>
                  <a:srgbClr val="FFFFFF"/>
                </a:solidFill>
                <a:latin typeface="Arial"/>
              </a:rPr>
              <a:t>Page</a:t>
            </a:r>
            <a:r>
              <a:rPr lang="de-DE" sz="900" baseline="0" dirty="0">
                <a:solidFill>
                  <a:srgbClr val="FFFFFF"/>
                </a:solidFill>
                <a:latin typeface="Arial"/>
              </a:rPr>
              <a:t> </a:t>
            </a:r>
            <a:fld id="{F65F0E4A-FEB8-E34F-8DF3-6D8890BA47FE}" type="slidenum">
              <a:rPr lang="de-DE" sz="900" baseline="0" smtClean="0">
                <a:solidFill>
                  <a:srgbClr val="FFFFFF"/>
                </a:solidFill>
                <a:latin typeface="Arial"/>
              </a:rPr>
              <a:t>‹#›</a:t>
            </a:fld>
            <a:endParaRPr lang="de-DE" sz="900" dirty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302538" y="572988"/>
            <a:ext cx="460851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047B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16" name="Inhaltsplatzhalter 3"/>
          <p:cNvSpPr>
            <a:spLocks noGrp="1"/>
          </p:cNvSpPr>
          <p:nvPr>
            <p:ph sz="half" idx="2"/>
          </p:nvPr>
        </p:nvSpPr>
        <p:spPr>
          <a:xfrm>
            <a:off x="302538" y="1356766"/>
            <a:ext cx="4608512" cy="3303216"/>
          </a:xfrm>
          <a:prstGeom prst="rect">
            <a:avLst/>
          </a:prstGeom>
        </p:spPr>
        <p:txBody>
          <a:bodyPr/>
          <a:lstStyle>
            <a:lvl1pPr>
              <a:buClr>
                <a:srgbClr val="0047B9"/>
              </a:buClr>
              <a:buSzPct val="100000"/>
              <a:defRPr sz="2200">
                <a:solidFill>
                  <a:srgbClr val="000000"/>
                </a:solidFill>
              </a:defRPr>
            </a:lvl1pPr>
            <a:lvl2pPr>
              <a:buClr>
                <a:srgbClr val="0047B9"/>
              </a:buClr>
              <a:buSzPct val="100000"/>
              <a:defRPr sz="2000">
                <a:solidFill>
                  <a:srgbClr val="000000"/>
                </a:solidFill>
              </a:defRPr>
            </a:lvl2pPr>
            <a:lvl3pPr>
              <a:buClr>
                <a:srgbClr val="0047B9"/>
              </a:buClr>
              <a:buSzPct val="100000"/>
              <a:defRPr sz="1800">
                <a:solidFill>
                  <a:srgbClr val="000000"/>
                </a:solidFill>
              </a:defRPr>
            </a:lvl3pPr>
            <a:lvl4pPr>
              <a:buClr>
                <a:srgbClr val="0047B9"/>
              </a:buClr>
              <a:buSzPct val="100000"/>
              <a:defRPr sz="1600">
                <a:solidFill>
                  <a:srgbClr val="000000"/>
                </a:solidFill>
              </a:defRPr>
            </a:lvl4pPr>
            <a:lvl5pPr>
              <a:buClr>
                <a:srgbClr val="0047B9"/>
              </a:buClr>
              <a:buSzPct val="100000"/>
              <a:defRPr sz="1600">
                <a:solidFill>
                  <a:srgbClr val="00000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19" name="Textplatzhalter 2"/>
          <p:cNvSpPr>
            <a:spLocks noGrp="1"/>
          </p:cNvSpPr>
          <p:nvPr>
            <p:ph type="body" idx="10" hasCustomPrompt="1"/>
          </p:nvPr>
        </p:nvSpPr>
        <p:spPr>
          <a:xfrm>
            <a:off x="4530377" y="564448"/>
            <a:ext cx="460851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047B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20" name="Inhaltsplatzhalter 3"/>
          <p:cNvSpPr>
            <a:spLocks noGrp="1"/>
          </p:cNvSpPr>
          <p:nvPr>
            <p:ph sz="half" idx="11" hasCustomPrompt="1"/>
          </p:nvPr>
        </p:nvSpPr>
        <p:spPr>
          <a:xfrm>
            <a:off x="4530377" y="1348226"/>
            <a:ext cx="4608512" cy="3303216"/>
          </a:xfrm>
          <a:prstGeom prst="rect">
            <a:avLst/>
          </a:prstGeom>
        </p:spPr>
        <p:txBody>
          <a:bodyPr/>
          <a:lstStyle>
            <a:lvl1pPr>
              <a:buClr>
                <a:srgbClr val="0047B9"/>
              </a:buClr>
              <a:buSzPct val="100000"/>
              <a:defRPr sz="2400">
                <a:solidFill>
                  <a:srgbClr val="000000"/>
                </a:solidFill>
              </a:defRPr>
            </a:lvl1pPr>
            <a:lvl2pPr>
              <a:buClr>
                <a:srgbClr val="0047B9"/>
              </a:buClr>
              <a:buSzPct val="100000"/>
              <a:defRPr sz="2000">
                <a:solidFill>
                  <a:srgbClr val="000000"/>
                </a:solidFill>
              </a:defRPr>
            </a:lvl2pPr>
            <a:lvl3pPr>
              <a:buClr>
                <a:srgbClr val="0047B9"/>
              </a:buClr>
              <a:buSzPct val="100000"/>
              <a:defRPr sz="1800">
                <a:solidFill>
                  <a:srgbClr val="000000"/>
                </a:solidFill>
              </a:defRPr>
            </a:lvl3pPr>
            <a:lvl4pPr>
              <a:buClr>
                <a:srgbClr val="0047B9"/>
              </a:buClr>
              <a:buSzPct val="100000"/>
              <a:defRPr sz="1600">
                <a:solidFill>
                  <a:srgbClr val="000000"/>
                </a:solidFill>
              </a:defRPr>
            </a:lvl4pPr>
            <a:lvl5pPr>
              <a:buClr>
                <a:srgbClr val="0047B9"/>
              </a:buClr>
              <a:buSzPct val="100000"/>
              <a:defRPr sz="1600">
                <a:solidFill>
                  <a:srgbClr val="000000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0483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6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0" y="4744641"/>
            <a:ext cx="9144000" cy="404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Rectangle 64"/>
          <p:cNvSpPr>
            <a:spLocks noChangeArrowheads="1"/>
          </p:cNvSpPr>
          <p:nvPr/>
        </p:nvSpPr>
        <p:spPr bwMode="black">
          <a:xfrm>
            <a:off x="65088" y="4848225"/>
            <a:ext cx="8382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fld id="{BB7AE2F2-6935-47CB-AB2C-F25DC23D80A7}" type="datetime1">
              <a:rPr lang="en-US" sz="900" smtClean="0">
                <a:solidFill>
                  <a:schemeClr val="bg2"/>
                </a:solidFill>
                <a:latin typeface="Arial" pitchFamily="34" charset="0"/>
              </a:rPr>
              <a:pPr/>
              <a:t>4/22/26</a:t>
            </a:fld>
            <a:r>
              <a:rPr lang="en-US" sz="900" dirty="0">
                <a:solidFill>
                  <a:schemeClr val="bg2"/>
                </a:solidFill>
                <a:latin typeface="Arial" pitchFamily="34" charset="0"/>
              </a:rPr>
              <a:t>   |</a:t>
            </a:r>
          </a:p>
        </p:txBody>
      </p:sp>
      <p:pic>
        <p:nvPicPr>
          <p:cNvPr id="9" name="Picture 5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154" y="4831556"/>
            <a:ext cx="805434" cy="23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feld 9"/>
          <p:cNvSpPr txBox="1"/>
          <p:nvPr userDrawn="1"/>
        </p:nvSpPr>
        <p:spPr>
          <a:xfrm>
            <a:off x="755576" y="4848225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solidFill>
                  <a:srgbClr val="FFFFFF"/>
                </a:solidFill>
                <a:latin typeface="Arial"/>
              </a:rPr>
              <a:t>Page</a:t>
            </a:r>
            <a:r>
              <a:rPr lang="de-DE" sz="900" baseline="0" dirty="0">
                <a:solidFill>
                  <a:srgbClr val="FFFFFF"/>
                </a:solidFill>
                <a:latin typeface="Arial"/>
              </a:rPr>
              <a:t> </a:t>
            </a:r>
            <a:fld id="{F65F0E4A-FEB8-E34F-8DF3-6D8890BA47FE}" type="slidenum">
              <a:rPr lang="de-DE" sz="900" baseline="0" smtClean="0">
                <a:solidFill>
                  <a:srgbClr val="FFFFFF"/>
                </a:solidFill>
                <a:latin typeface="Arial"/>
              </a:rPr>
              <a:t>‹#›</a:t>
            </a:fld>
            <a:endParaRPr lang="de-DE" sz="900" dirty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1291117" y="471877"/>
            <a:ext cx="5415880" cy="396875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47B9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690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6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3" name="Rectangle 46"/>
          <p:cNvSpPr>
            <a:spLocks noChangeArrowheads="1"/>
          </p:cNvSpPr>
          <p:nvPr/>
        </p:nvSpPr>
        <p:spPr bwMode="auto">
          <a:xfrm>
            <a:off x="0" y="4744641"/>
            <a:ext cx="9144000" cy="4048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de-DE"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64"/>
          <p:cNvSpPr>
            <a:spLocks noChangeArrowheads="1"/>
          </p:cNvSpPr>
          <p:nvPr/>
        </p:nvSpPr>
        <p:spPr bwMode="black">
          <a:xfrm>
            <a:off x="65088" y="4848225"/>
            <a:ext cx="8382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fld id="{56E7AC42-7F85-4F60-AB21-A5762EE4EF17}" type="datetime1">
              <a:rPr lang="en-US" sz="900" smtClean="0">
                <a:solidFill>
                  <a:schemeClr val="bg2"/>
                </a:solidFill>
                <a:latin typeface="Arial" pitchFamily="34" charset="0"/>
              </a:rPr>
              <a:pPr/>
              <a:t>4/22/26</a:t>
            </a:fld>
            <a:r>
              <a:rPr lang="en-US" sz="900" dirty="0">
                <a:solidFill>
                  <a:schemeClr val="bg2"/>
                </a:solidFill>
                <a:latin typeface="Arial" pitchFamily="34" charset="0"/>
              </a:rPr>
              <a:t>   |</a:t>
            </a:r>
          </a:p>
        </p:txBody>
      </p:sp>
      <p:pic>
        <p:nvPicPr>
          <p:cNvPr id="7" name="Picture 5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154" y="4831556"/>
            <a:ext cx="805434" cy="234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/>
          <p:cNvSpPr txBox="1"/>
          <p:nvPr userDrawn="1"/>
        </p:nvSpPr>
        <p:spPr>
          <a:xfrm>
            <a:off x="755576" y="4848225"/>
            <a:ext cx="11521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solidFill>
                  <a:srgbClr val="FFFFFF"/>
                </a:solidFill>
                <a:latin typeface="Arial"/>
              </a:rPr>
              <a:t>Page</a:t>
            </a:r>
            <a:r>
              <a:rPr lang="de-DE" sz="900" baseline="0" dirty="0">
                <a:solidFill>
                  <a:srgbClr val="FFFFFF"/>
                </a:solidFill>
                <a:latin typeface="Arial"/>
              </a:rPr>
              <a:t> </a:t>
            </a:r>
            <a:fld id="{F65F0E4A-FEB8-E34F-8DF3-6D8890BA47FE}" type="slidenum">
              <a:rPr lang="de-DE" sz="900" baseline="0" smtClean="0">
                <a:solidFill>
                  <a:srgbClr val="FFFFFF"/>
                </a:solidFill>
                <a:latin typeface="Arial"/>
              </a:rPr>
              <a:t>‹#›</a:t>
            </a:fld>
            <a:endParaRPr lang="de-DE" sz="900" dirty="0" err="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5909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185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8"/>
          <p:cNvSpPr>
            <a:spLocks noChangeArrowheads="1"/>
          </p:cNvSpPr>
          <p:nvPr/>
        </p:nvSpPr>
        <p:spPr bwMode="auto">
          <a:xfrm>
            <a:off x="0" y="742950"/>
            <a:ext cx="9144000" cy="4400550"/>
          </a:xfrm>
          <a:prstGeom prst="rect">
            <a:avLst/>
          </a:prstGeom>
          <a:solidFill>
            <a:srgbClr val="0047B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0" hangingPunct="0"/>
            <a:endParaRPr lang="de-DE"/>
          </a:p>
        </p:txBody>
      </p:sp>
      <p:sp>
        <p:nvSpPr>
          <p:cNvPr id="4142" name="Rectangle 46"/>
          <p:cNvSpPr>
            <a:spLocks noChangeArrowheads="1"/>
          </p:cNvSpPr>
          <p:nvPr/>
        </p:nvSpPr>
        <p:spPr bwMode="auto">
          <a:xfrm>
            <a:off x="3175" y="-7143"/>
            <a:ext cx="9144000" cy="7834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4144" name="Line 48"/>
          <p:cNvSpPr>
            <a:spLocks noChangeShapeType="1"/>
          </p:cNvSpPr>
          <p:nvPr/>
        </p:nvSpPr>
        <p:spPr bwMode="auto">
          <a:xfrm flipV="1">
            <a:off x="1600200" y="0"/>
            <a:ext cx="0" cy="628650"/>
          </a:xfrm>
          <a:prstGeom prst="line">
            <a:avLst/>
          </a:prstGeom>
          <a:noFill/>
          <a:ln w="1143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>
              <a:defRPr/>
            </a:pPr>
            <a:endParaRPr lang="de-DE">
              <a:ea typeface="ＭＳ Ｐゴシック" charset="0"/>
            </a:endParaRPr>
          </a:p>
        </p:txBody>
      </p:sp>
      <p:sp>
        <p:nvSpPr>
          <p:cNvPr id="4160" name="Rectangle 64"/>
          <p:cNvSpPr>
            <a:spLocks noChangeArrowheads="1"/>
          </p:cNvSpPr>
          <p:nvPr/>
        </p:nvSpPr>
        <p:spPr bwMode="black">
          <a:xfrm>
            <a:off x="69850" y="509588"/>
            <a:ext cx="8445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fld id="{4EBF421A-02E5-4ABF-BB6A-1ADBD838C04A}" type="datetime1">
              <a:rPr lang="en-US" sz="900">
                <a:solidFill>
                  <a:schemeClr val="tx2"/>
                </a:solidFill>
                <a:latin typeface="Arial" pitchFamily="34" charset="0"/>
              </a:rPr>
              <a:pPr/>
              <a:t>4/22/26</a:t>
            </a:fld>
            <a:r>
              <a:rPr lang="en-US" sz="900">
                <a:solidFill>
                  <a:schemeClr val="tx2"/>
                </a:solidFill>
                <a:latin typeface="Arial" pitchFamily="34" charset="0"/>
              </a:rPr>
              <a:t> |</a:t>
            </a:r>
          </a:p>
        </p:txBody>
      </p:sp>
      <p:sp>
        <p:nvSpPr>
          <p:cNvPr id="4161" name="Text Box 65"/>
          <p:cNvSpPr txBox="1">
            <a:spLocks noChangeArrowheads="1"/>
          </p:cNvSpPr>
          <p:nvPr/>
        </p:nvSpPr>
        <p:spPr bwMode="auto">
          <a:xfrm>
            <a:off x="73025" y="207169"/>
            <a:ext cx="12192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de-DE" sz="900" dirty="0" err="1">
                <a:solidFill>
                  <a:schemeClr val="tx2"/>
                </a:solidFill>
                <a:latin typeface="Arial" charset="0"/>
                <a:ea typeface="ＭＳ Ｐゴシック" charset="0"/>
              </a:rPr>
              <a:t>Author</a:t>
            </a:r>
            <a:endParaRPr lang="de-DE" sz="900" dirty="0">
              <a:solidFill>
                <a:schemeClr val="tx2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162" name="Text Box 66"/>
          <p:cNvSpPr txBox="1">
            <a:spLocks noChangeArrowheads="1"/>
          </p:cNvSpPr>
          <p:nvPr/>
        </p:nvSpPr>
        <p:spPr bwMode="auto">
          <a:xfrm>
            <a:off x="76200" y="309563"/>
            <a:ext cx="121920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de-DE" sz="900" dirty="0">
                <a:solidFill>
                  <a:schemeClr val="tx2"/>
                </a:solidFill>
                <a:latin typeface="Arial" charset="0"/>
                <a:ea typeface="ＭＳ Ｐゴシック" charset="0"/>
              </a:rPr>
              <a:t>Division</a:t>
            </a:r>
          </a:p>
        </p:txBody>
      </p:sp>
      <p:pic>
        <p:nvPicPr>
          <p:cNvPr id="1036" name="Picture 77"/>
          <p:cNvPicPr>
            <a:picLocks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29" r="44364" b="21035"/>
          <a:stretch/>
        </p:blipFill>
        <p:spPr bwMode="auto">
          <a:xfrm>
            <a:off x="7668344" y="77843"/>
            <a:ext cx="1243584" cy="621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MS PGothic" pitchFamily="34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190500" indent="-190500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Times" charset="0"/>
        <a:buChar char="•"/>
        <a:defRPr sz="2000">
          <a:solidFill>
            <a:schemeClr val="bg2"/>
          </a:solidFill>
          <a:latin typeface="+mn-lt"/>
          <a:ea typeface="MS PGothic" pitchFamily="34" charset="-128"/>
          <a:cs typeface="ＭＳ Ｐゴシック" charset="0"/>
        </a:defRPr>
      </a:lvl1pPr>
      <a:lvl2pPr marL="569913" indent="-188913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Times" charset="0"/>
        <a:buChar char="•"/>
        <a:defRPr sz="2000">
          <a:solidFill>
            <a:schemeClr val="bg2"/>
          </a:solidFill>
          <a:latin typeface="+mn-lt"/>
          <a:ea typeface="MS PGothic" pitchFamily="34" charset="-128"/>
        </a:defRPr>
      </a:lvl2pPr>
      <a:lvl3pPr marL="947738" indent="-187325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Times" charset="0"/>
        <a:buChar char="•"/>
        <a:defRPr sz="2000">
          <a:solidFill>
            <a:schemeClr val="bg2"/>
          </a:solidFill>
          <a:latin typeface="+mn-lt"/>
          <a:ea typeface="MS PGothic" pitchFamily="34" charset="-128"/>
        </a:defRPr>
      </a:lvl3pPr>
      <a:lvl4pPr marL="1323975" indent="-185738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Times" charset="0"/>
        <a:buChar char="•"/>
        <a:defRPr sz="2000">
          <a:solidFill>
            <a:schemeClr val="bg2"/>
          </a:solidFill>
          <a:latin typeface="+mn-lt"/>
          <a:ea typeface="MS PGothic" pitchFamily="34" charset="-128"/>
        </a:defRPr>
      </a:lvl4pPr>
      <a:lvl5pPr marL="1792288" indent="-277813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Times" charset="0"/>
        <a:buChar char="•"/>
        <a:defRPr sz="2000">
          <a:solidFill>
            <a:schemeClr val="bg2"/>
          </a:solidFill>
          <a:latin typeface="+mn-lt"/>
          <a:ea typeface="MS PGothic" pitchFamily="34" charset="-128"/>
        </a:defRPr>
      </a:lvl5pPr>
      <a:lvl6pPr marL="2249488" indent="-277813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Times" charset="0"/>
        <a:buChar char="•"/>
        <a:defRPr sz="2000">
          <a:solidFill>
            <a:schemeClr val="bg2"/>
          </a:solidFill>
          <a:latin typeface="+mn-lt"/>
          <a:ea typeface="+mn-ea"/>
        </a:defRPr>
      </a:lvl6pPr>
      <a:lvl7pPr marL="2706688" indent="-277813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Times" charset="0"/>
        <a:buChar char="•"/>
        <a:defRPr sz="2000">
          <a:solidFill>
            <a:schemeClr val="bg2"/>
          </a:solidFill>
          <a:latin typeface="+mn-lt"/>
          <a:ea typeface="+mn-ea"/>
        </a:defRPr>
      </a:lvl7pPr>
      <a:lvl8pPr marL="3163888" indent="-277813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Times" charset="0"/>
        <a:buChar char="•"/>
        <a:defRPr sz="2000">
          <a:solidFill>
            <a:schemeClr val="bg2"/>
          </a:solidFill>
          <a:latin typeface="+mn-lt"/>
          <a:ea typeface="+mn-ea"/>
        </a:defRPr>
      </a:lvl8pPr>
      <a:lvl9pPr marL="3621088" indent="-277813" algn="l" rtl="0" eaLnBrk="1" fontAlgn="base" hangingPunct="1">
        <a:spcBef>
          <a:spcPct val="20000"/>
        </a:spcBef>
        <a:spcAft>
          <a:spcPct val="0"/>
        </a:spcAft>
        <a:buClr>
          <a:srgbClr val="FFFFFF"/>
        </a:buClr>
        <a:buSzPct val="90000"/>
        <a:buFont typeface="Times" charset="0"/>
        <a:buChar char="•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0.jpeg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1906964" y="2300339"/>
            <a:ext cx="1584915" cy="2979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47B9"/>
                </a:solidFill>
                <a:latin typeface="Arial"/>
                <a:ea typeface="ＭＳ Ｐゴシック"/>
              </a:rPr>
              <a:t>22 April 2026</a:t>
            </a:r>
            <a:endParaRPr lang="en-US" sz="1400" spc="-1" dirty="0">
              <a:latin typeface="Arial"/>
            </a:endParaRPr>
          </a:p>
        </p:txBody>
      </p:sp>
      <p:sp>
        <p:nvSpPr>
          <p:cNvPr id="103" name="CustomShape 2"/>
          <p:cNvSpPr/>
          <p:nvPr/>
        </p:nvSpPr>
        <p:spPr>
          <a:xfrm>
            <a:off x="1906964" y="1125452"/>
            <a:ext cx="5689371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r>
              <a:rPr lang="en-US" sz="3200" b="1" spc="-1" dirty="0">
                <a:solidFill>
                  <a:srgbClr val="0047B9"/>
                </a:solidFill>
                <a:latin typeface="Arial"/>
                <a:ea typeface="ＭＳ Ｐゴシック"/>
              </a:rPr>
              <a:t>Bioinformatics at the DKFZ</a:t>
            </a:r>
            <a:endParaRPr lang="en-US" sz="3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105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pc="-1" dirty="0">
              <a:latin typeface="Arial"/>
            </a:endParaRPr>
          </a:p>
        </p:txBody>
      </p:sp>
      <p:sp>
        <p:nvSpPr>
          <p:cNvPr id="104" name="CustomShape 3"/>
          <p:cNvSpPr/>
          <p:nvPr/>
        </p:nvSpPr>
        <p:spPr>
          <a:xfrm>
            <a:off x="2699421" y="3484841"/>
            <a:ext cx="4799790" cy="6542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/>
          <a:lstStyle/>
          <a:p>
            <a:pPr>
              <a:lnSpc>
                <a:spcPct val="150000"/>
              </a:lnSpc>
            </a:pPr>
            <a:r>
              <a:rPr lang="en-US" sz="1600" spc="-1" dirty="0">
                <a:solidFill>
                  <a:srgbClr val="0047B9"/>
                </a:solidFill>
                <a:latin typeface="Arial"/>
                <a:ea typeface="ＭＳ Ｐゴシック"/>
              </a:rPr>
              <a:t>Dr. </a:t>
            </a:r>
            <a:r>
              <a:rPr lang="en-US" sz="1600" spc="-1" dirty="0" err="1">
                <a:solidFill>
                  <a:srgbClr val="0047B9"/>
                </a:solidFill>
                <a:latin typeface="Arial"/>
                <a:ea typeface="ＭＳ Ｐゴシック"/>
              </a:rPr>
              <a:t>Óscar</a:t>
            </a:r>
            <a:r>
              <a:rPr lang="en-US" sz="1600" spc="-1" dirty="0">
                <a:solidFill>
                  <a:srgbClr val="0047B9"/>
                </a:solidFill>
                <a:latin typeface="Arial"/>
                <a:ea typeface="ＭＳ Ｐゴシック"/>
              </a:rPr>
              <a:t> González-Velasco </a:t>
            </a:r>
          </a:p>
          <a:p>
            <a:pPr>
              <a:lnSpc>
                <a:spcPct val="150000"/>
              </a:lnSpc>
            </a:pPr>
            <a:r>
              <a:rPr lang="en-US" sz="1200" i="1" spc="-1" dirty="0">
                <a:solidFill>
                  <a:srgbClr val="0047B9"/>
                </a:solidFill>
                <a:latin typeface="Arial"/>
                <a:ea typeface="ＭＳ Ｐゴシック"/>
              </a:rPr>
              <a:t>B330 - Division of Applied Bioinformatics</a:t>
            </a:r>
          </a:p>
          <a:p>
            <a:r>
              <a:rPr lang="en-US" sz="1200" i="1" spc="-1" dirty="0">
                <a:solidFill>
                  <a:srgbClr val="0047B9"/>
                </a:solidFill>
                <a:latin typeface="Arial"/>
                <a:ea typeface="ＭＳ Ｐゴシック"/>
              </a:rPr>
              <a:t>(</a:t>
            </a:r>
            <a:r>
              <a:rPr lang="en-US" sz="1200" i="1" spc="-1" dirty="0" err="1">
                <a:solidFill>
                  <a:srgbClr val="0047B9"/>
                </a:solidFill>
                <a:latin typeface="Arial"/>
                <a:ea typeface="ＭＳ Ｐゴシック"/>
              </a:rPr>
              <a:t>oscar.gonzalezvelasco@dkfz-heidelberg.de</a:t>
            </a:r>
            <a:r>
              <a:rPr lang="en-US" sz="1200" i="1" spc="-1" dirty="0">
                <a:solidFill>
                  <a:srgbClr val="0047B9"/>
                </a:solidFill>
                <a:latin typeface="Arial"/>
                <a:ea typeface="ＭＳ Ｐゴシック"/>
              </a:rPr>
              <a:t>)</a:t>
            </a:r>
            <a:endParaRPr lang="en-US" sz="1200" i="1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i="1" spc="-1" dirty="0">
              <a:latin typeface="Arial"/>
            </a:endParaRPr>
          </a:p>
        </p:txBody>
      </p:sp>
      <p:sp>
        <p:nvSpPr>
          <p:cNvPr id="105" name="CustomShape 4"/>
          <p:cNvSpPr/>
          <p:nvPr/>
        </p:nvSpPr>
        <p:spPr>
          <a:xfrm>
            <a:off x="2596680" y="4164750"/>
            <a:ext cx="137430" cy="3420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5D0B9998-979C-4404-4895-32E2AC40CA20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17233-C549-F4AB-BA68-E5946C13A6B9}"/>
              </a:ext>
            </a:extLst>
          </p:cNvPr>
          <p:cNvSpPr txBox="1"/>
          <p:nvPr/>
        </p:nvSpPr>
        <p:spPr>
          <a:xfrm>
            <a:off x="1075093" y="758389"/>
            <a:ext cx="5997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/>
              </a:rPr>
              <a:t>Go to the repository:</a:t>
            </a:r>
          </a:p>
          <a:p>
            <a:r>
              <a:rPr lang="en-GB" sz="2000" dirty="0">
                <a:solidFill>
                  <a:srgbClr val="0070C0"/>
                </a:solidFill>
                <a:latin typeface="Arial"/>
              </a:rPr>
              <a:t>https://</a:t>
            </a:r>
            <a:r>
              <a:rPr lang="en-GB" sz="2000" dirty="0" err="1">
                <a:solidFill>
                  <a:srgbClr val="0070C0"/>
                </a:solidFill>
                <a:latin typeface="Arial"/>
              </a:rPr>
              <a:t>github.com</a:t>
            </a:r>
            <a:r>
              <a:rPr lang="en-GB" sz="2000" dirty="0">
                <a:solidFill>
                  <a:srgbClr val="0070C0"/>
                </a:solidFill>
                <a:latin typeface="Arial"/>
              </a:rPr>
              <a:t>/</a:t>
            </a:r>
            <a:r>
              <a:rPr lang="en-GB" sz="2000" dirty="0" err="1">
                <a:solidFill>
                  <a:srgbClr val="0070C0"/>
                </a:solidFill>
                <a:latin typeface="Arial"/>
              </a:rPr>
              <a:t>OscarGVelasco</a:t>
            </a:r>
            <a:r>
              <a:rPr lang="en-GB" sz="2000" dirty="0">
                <a:solidFill>
                  <a:srgbClr val="0070C0"/>
                </a:solidFill>
                <a:latin typeface="Arial"/>
              </a:rPr>
              <a:t>/DKFZ_bio_2026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8B468-4E62-53AF-2CC8-3B9553016BAE}"/>
              </a:ext>
            </a:extLst>
          </p:cNvPr>
          <p:cNvSpPr txBox="1"/>
          <p:nvPr/>
        </p:nvSpPr>
        <p:spPr>
          <a:xfrm>
            <a:off x="1069338" y="3117191"/>
            <a:ext cx="41008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/>
              </a:rPr>
              <a:t>Python libraries:</a:t>
            </a:r>
            <a:br>
              <a:rPr lang="en-GB" sz="2000" dirty="0">
                <a:latin typeface="Arial"/>
              </a:rPr>
            </a:br>
            <a:r>
              <a:rPr lang="en-GB" sz="2000" i="1" dirty="0" err="1">
                <a:solidFill>
                  <a:srgbClr val="0070C0"/>
                </a:solidFill>
                <a:latin typeface="Arial"/>
              </a:rPr>
              <a:t>Sklearn</a:t>
            </a:r>
            <a:r>
              <a:rPr lang="en-GB" sz="2000" i="1" dirty="0">
                <a:solidFill>
                  <a:srgbClr val="0070C0"/>
                </a:solidFill>
                <a:latin typeface="Arial"/>
              </a:rPr>
              <a:t>, pandas, </a:t>
            </a:r>
            <a:r>
              <a:rPr lang="en-GB" sz="2000" i="1" dirty="0" err="1">
                <a:solidFill>
                  <a:srgbClr val="0070C0"/>
                </a:solidFill>
                <a:latin typeface="Arial"/>
              </a:rPr>
              <a:t>numpy</a:t>
            </a:r>
            <a:r>
              <a:rPr lang="en-GB" sz="2000" i="1" dirty="0">
                <a:solidFill>
                  <a:srgbClr val="0070C0"/>
                </a:solidFill>
                <a:latin typeface="Arial"/>
              </a:rPr>
              <a:t> &amp; </a:t>
            </a:r>
            <a:r>
              <a:rPr lang="en-GB" sz="2000" i="1" dirty="0" err="1">
                <a:solidFill>
                  <a:srgbClr val="0070C0"/>
                </a:solidFill>
                <a:latin typeface="Arial"/>
              </a:rPr>
              <a:t>pytorch</a:t>
            </a:r>
            <a:endParaRPr lang="en-GB" sz="2000" i="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643CF-BFD1-ABA5-B125-6E4F3658D963}"/>
              </a:ext>
            </a:extLst>
          </p:cNvPr>
          <p:cNvSpPr txBox="1"/>
          <p:nvPr/>
        </p:nvSpPr>
        <p:spPr>
          <a:xfrm>
            <a:off x="1069338" y="1779662"/>
            <a:ext cx="430303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/>
              </a:rPr>
              <a:t>Colorectal Adenocarcinoma dataset:</a:t>
            </a:r>
          </a:p>
          <a:p>
            <a:r>
              <a:rPr lang="en-GB" sz="2000" dirty="0">
                <a:solidFill>
                  <a:srgbClr val="0070C0"/>
                </a:solidFill>
                <a:latin typeface="Arial"/>
              </a:rPr>
              <a:t>- RNA-</a:t>
            </a:r>
            <a:r>
              <a:rPr lang="en-GB" sz="2000" dirty="0" err="1">
                <a:solidFill>
                  <a:srgbClr val="0070C0"/>
                </a:solidFill>
                <a:latin typeface="Arial"/>
              </a:rPr>
              <a:t>Seq</a:t>
            </a:r>
            <a:r>
              <a:rPr lang="en-GB" sz="2000" dirty="0">
                <a:solidFill>
                  <a:srgbClr val="0070C0"/>
                </a:solidFill>
                <a:latin typeface="Arial"/>
              </a:rPr>
              <a:t> + clinical data</a:t>
            </a:r>
          </a:p>
          <a:p>
            <a:r>
              <a:rPr lang="en-GB" sz="2000" dirty="0">
                <a:solidFill>
                  <a:srgbClr val="0070C0"/>
                </a:solidFill>
                <a:latin typeface="Arial"/>
              </a:rPr>
              <a:t>- Task: </a:t>
            </a:r>
            <a:r>
              <a:rPr lang="en-GB" sz="2000" dirty="0" err="1">
                <a:solidFill>
                  <a:srgbClr val="0070C0"/>
                </a:solidFill>
                <a:latin typeface="Arial"/>
              </a:rPr>
              <a:t>tumor</a:t>
            </a:r>
            <a:r>
              <a:rPr lang="en-GB" sz="2000" dirty="0">
                <a:solidFill>
                  <a:srgbClr val="0070C0"/>
                </a:solidFill>
                <a:latin typeface="Arial"/>
              </a:rPr>
              <a:t> stage classification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19DDA-346E-A84F-D961-3A7656C9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FDAD78E1-0419-78C5-4915-CB0C3F14A438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107" name="CustomShape 2">
            <a:extLst>
              <a:ext uri="{FF2B5EF4-FFF2-40B4-BE49-F238E27FC236}">
                <a16:creationId xmlns:a16="http://schemas.microsoft.com/office/drawing/2014/main" id="{51BF81AB-5F0E-12BE-1B72-4F35089C7F86}"/>
              </a:ext>
            </a:extLst>
          </p:cNvPr>
          <p:cNvSpPr/>
          <p:nvPr/>
        </p:nvSpPr>
        <p:spPr>
          <a:xfrm>
            <a:off x="176862" y="938873"/>
            <a:ext cx="5186360" cy="184890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1600" spc="-1" dirty="0">
                <a:latin typeface="Arial"/>
              </a:rPr>
              <a:t>In July 1958, the U.S. Office of Naval Research unveiled a remarkable invention.</a:t>
            </a:r>
          </a:p>
          <a:p>
            <a:pPr>
              <a:lnSpc>
                <a:spcPct val="100000"/>
              </a:lnSpc>
            </a:pPr>
            <a:endParaRPr lang="en-US" sz="16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spc="-1" dirty="0">
                <a:latin typeface="Arial"/>
              </a:rPr>
              <a:t>An IBM 704 – a 5-ton computer the size of a room – was fed a series of punch cards. After 50 trials, the computer taught itself to distinguish cards marked on the left from cards marked on the right.</a:t>
            </a:r>
          </a:p>
          <a:p>
            <a:pPr>
              <a:buNone/>
            </a:pPr>
            <a:endParaRPr lang="en-US" sz="1500" b="1" spc="-1" dirty="0"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A0A76D2F-94CA-7C48-14F7-25AECA76EE83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3DFD44-E042-62F3-A9B4-1C2E6D37F806}"/>
              </a:ext>
            </a:extLst>
          </p:cNvPr>
          <p:cNvSpPr txBox="1"/>
          <p:nvPr/>
        </p:nvSpPr>
        <p:spPr>
          <a:xfrm>
            <a:off x="5363222" y="426615"/>
            <a:ext cx="25766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tx2"/>
                </a:solidFill>
                <a:latin typeface="Arial"/>
              </a:rPr>
              <a:t>A little bit of history…</a:t>
            </a:r>
          </a:p>
        </p:txBody>
      </p:sp>
      <p:pic>
        <p:nvPicPr>
          <p:cNvPr id="1026" name="Picture 2" descr="Perceptron">
            <a:extLst>
              <a:ext uri="{FF2B5EF4-FFF2-40B4-BE49-F238E27FC236}">
                <a16:creationId xmlns:a16="http://schemas.microsoft.com/office/drawing/2014/main" id="{1ABAFD5A-1AF6-CDE9-4DBB-D45109C63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970811"/>
            <a:ext cx="3747066" cy="2930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427FD1-9499-ADAE-AAE0-792AE6744B5B}"/>
              </a:ext>
            </a:extLst>
          </p:cNvPr>
          <p:cNvSpPr txBox="1"/>
          <p:nvPr/>
        </p:nvSpPr>
        <p:spPr>
          <a:xfrm>
            <a:off x="467544" y="3931927"/>
            <a:ext cx="66247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GB" sz="2400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Frank Rosenblatt </a:t>
            </a:r>
            <a:r>
              <a:rPr lang="en-GB" sz="2400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at the 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Cornell Aeronautical Laboratory invented the 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perceptron</a:t>
            </a:r>
            <a:endParaRPr lang="en-GB" sz="2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31137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CFD07-BC2E-327E-FE3C-25F01DD1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A2F506F8-0580-F1A4-34B3-811A79579CBB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pic>
        <p:nvPicPr>
          <p:cNvPr id="3074" name="Picture 2" descr="What Is Linear Regression in Machine Learning? | Grammarly">
            <a:extLst>
              <a:ext uri="{FF2B5EF4-FFF2-40B4-BE49-F238E27FC236}">
                <a16:creationId xmlns:a16="http://schemas.microsoft.com/office/drawing/2014/main" id="{70B05D6B-5FE7-2C64-0EEE-8802933A1B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8" t="11861" r="6286" b="14526"/>
          <a:stretch/>
        </p:blipFill>
        <p:spPr bwMode="auto">
          <a:xfrm>
            <a:off x="107504" y="1393086"/>
            <a:ext cx="5400600" cy="235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Brief Overview of Simple Linear Regression and its Implementation in  Python | by Prasad Meesala | Medium">
            <a:extLst>
              <a:ext uri="{FF2B5EF4-FFF2-40B4-BE49-F238E27FC236}">
                <a16:creationId xmlns:a16="http://schemas.microsoft.com/office/drawing/2014/main" id="{5CC14580-9ED9-AEE5-7EFD-D9EE9C41F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665" y="1630395"/>
            <a:ext cx="3347034" cy="18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stomShape 2">
            <a:extLst>
              <a:ext uri="{FF2B5EF4-FFF2-40B4-BE49-F238E27FC236}">
                <a16:creationId xmlns:a16="http://schemas.microsoft.com/office/drawing/2014/main" id="{C4D529E0-2B7D-7778-4390-BA627255B9B1}"/>
              </a:ext>
            </a:extLst>
          </p:cNvPr>
          <p:cNvSpPr/>
          <p:nvPr/>
        </p:nvSpPr>
        <p:spPr>
          <a:xfrm>
            <a:off x="4590667" y="488764"/>
            <a:ext cx="4536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How can we model the data? 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5A29A5AC-53AF-AEFC-9B74-8C05BDE12407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9261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B89C5-1153-1B93-4DE9-E1C865F4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51D42A3E-9CB4-14CC-BCFB-5C3219729B09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4D8C035-B6F5-F08D-5D69-DE900D3757F6}"/>
              </a:ext>
            </a:extLst>
          </p:cNvPr>
          <p:cNvSpPr/>
          <p:nvPr/>
        </p:nvSpPr>
        <p:spPr>
          <a:xfrm>
            <a:off x="4121976" y="492725"/>
            <a:ext cx="4536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The minimal neural network 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2B1AF89E-255C-74CC-12EB-2CBFF5362C71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1E7CD-85B7-0195-E255-B64C58461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64" y="1203598"/>
            <a:ext cx="4037864" cy="15841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056FEB-A9C8-609D-AFB9-B9EEB0AACEAD}"/>
              </a:ext>
            </a:extLst>
          </p:cNvPr>
          <p:cNvCxnSpPr>
            <a:cxnSpLocks/>
          </p:cNvCxnSpPr>
          <p:nvPr/>
        </p:nvCxnSpPr>
        <p:spPr bwMode="auto">
          <a:xfrm flipV="1">
            <a:off x="1403648" y="1491630"/>
            <a:ext cx="864096" cy="221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EBE397-2F86-0E9F-707D-B7220A2EAFB0}"/>
              </a:ext>
            </a:extLst>
          </p:cNvPr>
          <p:cNvCxnSpPr>
            <a:cxnSpLocks/>
          </p:cNvCxnSpPr>
          <p:nvPr/>
        </p:nvCxnSpPr>
        <p:spPr bwMode="auto">
          <a:xfrm>
            <a:off x="1403648" y="1760095"/>
            <a:ext cx="792088" cy="5765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D9D0C3-B78F-3E2D-6FD2-3D7037C00FEC}"/>
              </a:ext>
            </a:extLst>
          </p:cNvPr>
          <p:cNvSpPr txBox="1"/>
          <p:nvPr/>
        </p:nvSpPr>
        <p:spPr>
          <a:xfrm>
            <a:off x="725596" y="1574541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inputs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DA294B-1051-B3F6-DC50-455BFC03DE63}"/>
              </a:ext>
            </a:extLst>
          </p:cNvPr>
          <p:cNvCxnSpPr>
            <a:cxnSpLocks/>
          </p:cNvCxnSpPr>
          <p:nvPr/>
        </p:nvCxnSpPr>
        <p:spPr bwMode="auto">
          <a:xfrm>
            <a:off x="3192152" y="940057"/>
            <a:ext cx="388387" cy="2567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0BC0BC6-EB44-06C3-4EAF-8364385341BF}"/>
              </a:ext>
            </a:extLst>
          </p:cNvPr>
          <p:cNvSpPr txBox="1"/>
          <p:nvPr/>
        </p:nvSpPr>
        <p:spPr>
          <a:xfrm>
            <a:off x="2571817" y="699542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weights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0BCCB9-2A91-47BC-0306-41A9C8265FA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572000" y="2222262"/>
            <a:ext cx="347428" cy="2202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90238E-FED2-D476-02F5-675F4E4E569F}"/>
              </a:ext>
            </a:extLst>
          </p:cNvPr>
          <p:cNvSpPr txBox="1"/>
          <p:nvPr/>
        </p:nvSpPr>
        <p:spPr>
          <a:xfrm>
            <a:off x="4890276" y="2332386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bias</a:t>
            </a:r>
          </a:p>
        </p:txBody>
      </p:sp>
    </p:spTree>
    <p:extLst>
      <p:ext uri="{BB962C8B-B14F-4D97-AF65-F5344CB8AC3E}">
        <p14:creationId xmlns:p14="http://schemas.microsoft.com/office/powerpoint/2010/main" val="1543704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A0526-B5FE-E8C4-3DD9-8069B9DE2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FD8DE66D-B22F-EA4C-6E77-D91E0A87C82A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83A7EE0-C2DE-6CB7-1F2F-79DB4A72C679}"/>
              </a:ext>
            </a:extLst>
          </p:cNvPr>
          <p:cNvSpPr/>
          <p:nvPr/>
        </p:nvSpPr>
        <p:spPr>
          <a:xfrm>
            <a:off x="4121976" y="492725"/>
            <a:ext cx="4536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The minimal neural network 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D83FC94F-DCDC-4251-6380-37B6E2C67937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2E5195-4384-E28F-BE31-AFB26D731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64" y="1203598"/>
            <a:ext cx="4037864" cy="158417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2974A7-0123-F475-3291-2C0BBB72F792}"/>
              </a:ext>
            </a:extLst>
          </p:cNvPr>
          <p:cNvCxnSpPr>
            <a:cxnSpLocks/>
          </p:cNvCxnSpPr>
          <p:nvPr/>
        </p:nvCxnSpPr>
        <p:spPr bwMode="auto">
          <a:xfrm flipV="1">
            <a:off x="1403648" y="1491630"/>
            <a:ext cx="864096" cy="2214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5A63DD-2A42-01D1-31F1-B6B93ED881F4}"/>
              </a:ext>
            </a:extLst>
          </p:cNvPr>
          <p:cNvCxnSpPr>
            <a:cxnSpLocks/>
          </p:cNvCxnSpPr>
          <p:nvPr/>
        </p:nvCxnSpPr>
        <p:spPr bwMode="auto">
          <a:xfrm>
            <a:off x="1403648" y="1760095"/>
            <a:ext cx="792088" cy="5765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F16BB40-0AF9-D11E-1D62-4C27E90CD8DE}"/>
              </a:ext>
            </a:extLst>
          </p:cNvPr>
          <p:cNvSpPr txBox="1"/>
          <p:nvPr/>
        </p:nvSpPr>
        <p:spPr>
          <a:xfrm>
            <a:off x="725596" y="1574541"/>
            <a:ext cx="593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inputs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890076-CF45-60FD-5464-EAF0DFF9CE62}"/>
              </a:ext>
            </a:extLst>
          </p:cNvPr>
          <p:cNvCxnSpPr>
            <a:cxnSpLocks/>
          </p:cNvCxnSpPr>
          <p:nvPr/>
        </p:nvCxnSpPr>
        <p:spPr bwMode="auto">
          <a:xfrm>
            <a:off x="3192152" y="940057"/>
            <a:ext cx="388387" cy="2567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225ECDE-86CE-516C-E6CB-525BF4519A2A}"/>
              </a:ext>
            </a:extLst>
          </p:cNvPr>
          <p:cNvSpPr txBox="1"/>
          <p:nvPr/>
        </p:nvSpPr>
        <p:spPr>
          <a:xfrm>
            <a:off x="2571817" y="699542"/>
            <a:ext cx="70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weights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1AA0DF-8243-1FF9-DC28-2D5C25668FD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572000" y="2222262"/>
            <a:ext cx="347428" cy="2202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AAF507-2125-7829-9A08-B2E90A4654B7}"/>
              </a:ext>
            </a:extLst>
          </p:cNvPr>
          <p:cNvSpPr txBox="1"/>
          <p:nvPr/>
        </p:nvSpPr>
        <p:spPr>
          <a:xfrm>
            <a:off x="4890276" y="2332386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bias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CA32C-5EA8-9D56-D524-22E9F4FBE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364" y="3291961"/>
            <a:ext cx="3888432" cy="5580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B6C2CE-23AE-7AD8-1078-91F04C70623F}"/>
              </a:ext>
            </a:extLst>
          </p:cNvPr>
          <p:cNvSpPr txBox="1"/>
          <p:nvPr/>
        </p:nvSpPr>
        <p:spPr>
          <a:xfrm rot="20304226">
            <a:off x="258800" y="3284641"/>
            <a:ext cx="2095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Sounds familiar?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0BC506-EE01-3E85-3695-74CD009BF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9421" y="3961927"/>
            <a:ext cx="2239712" cy="4799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32FAC8-08BA-3C50-D81B-EFC270568B4C}"/>
              </a:ext>
            </a:extLst>
          </p:cNvPr>
          <p:cNvSpPr txBox="1"/>
          <p:nvPr/>
        </p:nvSpPr>
        <p:spPr>
          <a:xfrm>
            <a:off x="4644008" y="4032619"/>
            <a:ext cx="35621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i="1" dirty="0">
                <a:latin typeface="Arial"/>
              </a:rPr>
              <a:t>As vector form (standard notation)</a:t>
            </a:r>
          </a:p>
        </p:txBody>
      </p:sp>
    </p:spTree>
    <p:extLst>
      <p:ext uri="{BB962C8B-B14F-4D97-AF65-F5344CB8AC3E}">
        <p14:creationId xmlns:p14="http://schemas.microsoft.com/office/powerpoint/2010/main" val="3154059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18EFF-91E3-00C2-0C91-F3EDB1CAE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0E2B7E35-5AF7-9261-E281-46F59116D588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583F2600-4D7D-CBF7-FBD0-493D0B486B09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33F63-A0C1-6861-9BB7-A04D17A26C5B}"/>
              </a:ext>
            </a:extLst>
          </p:cNvPr>
          <p:cNvSpPr txBox="1"/>
          <p:nvPr/>
        </p:nvSpPr>
        <p:spPr>
          <a:xfrm>
            <a:off x="2708689" y="898317"/>
            <a:ext cx="28360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altLang="en-DE" sz="2000" dirty="0">
                <a:solidFill>
                  <a:srgbClr val="0070C0"/>
                </a:solidFill>
                <a:latin typeface="Arial"/>
              </a:rPr>
              <a:t>rnaseq_nn_exercise.py</a:t>
            </a:r>
          </a:p>
          <a:p>
            <a:endParaRPr lang="en-GB" sz="2000" dirty="0">
              <a:latin typeface="Arial"/>
            </a:endParaRP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769EEEAB-F30B-7431-5077-77F8B37638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373" y="779668"/>
            <a:ext cx="636913" cy="636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708F98-03EB-FE97-D06D-8BC41B395183}"/>
              </a:ext>
            </a:extLst>
          </p:cNvPr>
          <p:cNvSpPr txBox="1"/>
          <p:nvPr/>
        </p:nvSpPr>
        <p:spPr>
          <a:xfrm>
            <a:off x="1057275" y="1624881"/>
            <a:ext cx="4055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/>
              </a:rPr>
              <a:t>- Blocks 1 to 4: Preparing the data</a:t>
            </a:r>
          </a:p>
        </p:txBody>
      </p:sp>
    </p:spTree>
    <p:extLst>
      <p:ext uri="{BB962C8B-B14F-4D97-AF65-F5344CB8AC3E}">
        <p14:creationId xmlns:p14="http://schemas.microsoft.com/office/powerpoint/2010/main" val="3320247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8704F-FE72-150C-611C-1214DE10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A632B7C7-4F20-FD24-4D82-AD2AF71E8EE6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A91106E0-665A-CE9A-5DBF-BBF76CA3AFBA}"/>
              </a:ext>
            </a:extLst>
          </p:cNvPr>
          <p:cNvSpPr/>
          <p:nvPr/>
        </p:nvSpPr>
        <p:spPr>
          <a:xfrm>
            <a:off x="4572000" y="225963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So… we have a linear neural network, is it enough?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D47AA16D-DA1A-4A9D-97AB-F0E9CF50D1F7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7170" name="Picture 2" descr="Logistic Regression and Decision Boundary | by Anuradha Wickramarachchi |  TDS Archive | Medium">
            <a:extLst>
              <a:ext uri="{FF2B5EF4-FFF2-40B4-BE49-F238E27FC236}">
                <a16:creationId xmlns:a16="http://schemas.microsoft.com/office/drawing/2014/main" id="{C9F74B34-29CE-8D97-7228-C347E013C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52" r="50649"/>
          <a:stretch/>
        </p:blipFill>
        <p:spPr bwMode="auto">
          <a:xfrm>
            <a:off x="1547664" y="1923678"/>
            <a:ext cx="2736304" cy="2533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5DF36F2-EDF4-E7CC-5595-378270E4BDD3}"/>
              </a:ext>
            </a:extLst>
          </p:cNvPr>
          <p:cNvSpPr/>
          <p:nvPr/>
        </p:nvSpPr>
        <p:spPr bwMode="auto">
          <a:xfrm>
            <a:off x="2987824" y="1851670"/>
            <a:ext cx="321386" cy="288032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586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816DB-F9B9-5B20-63B8-E7D9466C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A3B3D7E6-7561-ACCF-A733-2AFFE4298BC8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9B0613D-BB70-58DC-E31E-85875C9CFD29}"/>
              </a:ext>
            </a:extLst>
          </p:cNvPr>
          <p:cNvSpPr/>
          <p:nvPr/>
        </p:nvSpPr>
        <p:spPr>
          <a:xfrm>
            <a:off x="4572000" y="225963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So… we have a linear neural network, </a:t>
            </a:r>
            <a:r>
              <a:rPr lang="en-US" b="1" spc="-1" dirty="0">
                <a:solidFill>
                  <a:srgbClr val="0070C0"/>
                </a:solidFill>
              </a:rPr>
              <a:t>is it enough?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3FBE971D-8617-017D-BA4A-741667DDD186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7170" name="Picture 2" descr="Logistic Regression and Decision Boundary | by Anuradha Wickramarachchi |  TDS Archive | Medium">
            <a:extLst>
              <a:ext uri="{FF2B5EF4-FFF2-40B4-BE49-F238E27FC236}">
                <a16:creationId xmlns:a16="http://schemas.microsoft.com/office/drawing/2014/main" id="{1824D1E3-2C55-A060-74FC-670BAAE04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252260"/>
            <a:ext cx="5544616" cy="3204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3012EF-569F-03DC-6F60-05D4A0803795}"/>
              </a:ext>
            </a:extLst>
          </p:cNvPr>
          <p:cNvSpPr txBox="1"/>
          <p:nvPr/>
        </p:nvSpPr>
        <p:spPr>
          <a:xfrm>
            <a:off x="2411760" y="4227934"/>
            <a:ext cx="180000" cy="21600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GB" sz="1050" dirty="0"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49526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0752E-E84F-798C-9BF4-4CC89DD1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65492307-50D4-54AE-D7DE-FCF1FE2AB5BA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3B7EE76-8A44-8746-DE46-93BA59413CD0}"/>
              </a:ext>
            </a:extLst>
          </p:cNvPr>
          <p:cNvSpPr/>
          <p:nvPr/>
        </p:nvSpPr>
        <p:spPr>
          <a:xfrm>
            <a:off x="4572000" y="485507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Introducing non-linearity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A43BCA21-1142-4B3A-3F96-D7E36246B3A3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55345A-B59D-BE37-2754-616617EAE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64" y="1203598"/>
            <a:ext cx="4037864" cy="15841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77A506-620F-F225-1697-7824F9A91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210" y="3078662"/>
            <a:ext cx="2239712" cy="4799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0EF705-64D1-A8B5-858A-7B8EAB7CD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250" y="4011910"/>
            <a:ext cx="3024336" cy="47291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3F6388-C7F1-4487-8BE5-086F643F952B}"/>
              </a:ext>
            </a:extLst>
          </p:cNvPr>
          <p:cNvCxnSpPr>
            <a:cxnSpLocks/>
          </p:cNvCxnSpPr>
          <p:nvPr/>
        </p:nvCxnSpPr>
        <p:spPr bwMode="auto">
          <a:xfrm>
            <a:off x="4788024" y="3620804"/>
            <a:ext cx="0" cy="4631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33A489B-4627-DA2A-B91B-176F5C09AA40}"/>
              </a:ext>
            </a:extLst>
          </p:cNvPr>
          <p:cNvSpPr txBox="1"/>
          <p:nvPr/>
        </p:nvSpPr>
        <p:spPr>
          <a:xfrm>
            <a:off x="5180436" y="3710988"/>
            <a:ext cx="1856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Introduce a new function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162A55-D30E-9BD3-8A16-7D89CE2B8AE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20082" y="2291667"/>
            <a:ext cx="47441" cy="1184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68349BA-D451-7F64-C6FC-F7D25E53871D}"/>
              </a:ext>
            </a:extLst>
          </p:cNvPr>
          <p:cNvSpPr txBox="1"/>
          <p:nvPr/>
        </p:nvSpPr>
        <p:spPr>
          <a:xfrm>
            <a:off x="5148064" y="1955616"/>
            <a:ext cx="1334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f</a:t>
            </a:r>
            <a:r>
              <a:rPr lang="en-GB" sz="20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 (	  )</a:t>
            </a:r>
          </a:p>
        </p:txBody>
      </p:sp>
    </p:spTree>
    <p:extLst>
      <p:ext uri="{BB962C8B-B14F-4D97-AF65-F5344CB8AC3E}">
        <p14:creationId xmlns:p14="http://schemas.microsoft.com/office/powerpoint/2010/main" val="4171404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D210-F649-2843-35C0-4855A94EC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72D62598-61F2-BC47-C8BA-DCE52A417720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306AE02A-6951-04AA-CB4F-9C2F3A131179}"/>
              </a:ext>
            </a:extLst>
          </p:cNvPr>
          <p:cNvSpPr/>
          <p:nvPr/>
        </p:nvSpPr>
        <p:spPr>
          <a:xfrm>
            <a:off x="4572000" y="165915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Introducing non-linearity</a:t>
            </a:r>
          </a:p>
          <a:p>
            <a:pPr>
              <a:lnSpc>
                <a:spcPct val="100000"/>
              </a:lnSpc>
            </a:pPr>
            <a:r>
              <a:rPr lang="en-US" sz="1800" b="1" spc="-1" dirty="0">
                <a:solidFill>
                  <a:srgbClr val="0070C0"/>
                </a:solidFill>
                <a:latin typeface="Arial"/>
                <a:ea typeface="ＭＳ Ｐゴシック"/>
              </a:rPr>
              <a:t>Activation functions</a:t>
            </a:r>
            <a:endParaRPr lang="en-US" sz="1800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D11E70C2-9B02-3D2D-2F73-1EB59F8B9ED8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8FB813-68C8-CE52-6BA3-823F66833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250" y="4011910"/>
            <a:ext cx="3024336" cy="472917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4648F2-9976-CBDF-CEA6-C786061E4876}"/>
              </a:ext>
            </a:extLst>
          </p:cNvPr>
          <p:cNvCxnSpPr>
            <a:cxnSpLocks/>
          </p:cNvCxnSpPr>
          <p:nvPr/>
        </p:nvCxnSpPr>
        <p:spPr bwMode="auto">
          <a:xfrm>
            <a:off x="4788024" y="3579862"/>
            <a:ext cx="0" cy="46311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8B9BC3E-19A7-5F35-4D10-5513BA40A903}"/>
              </a:ext>
            </a:extLst>
          </p:cNvPr>
          <p:cNvSpPr txBox="1"/>
          <p:nvPr/>
        </p:nvSpPr>
        <p:spPr>
          <a:xfrm>
            <a:off x="4987287" y="3659000"/>
            <a:ext cx="1856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Introduce a new function</a:t>
            </a:r>
          </a:p>
        </p:txBody>
      </p:sp>
      <p:pic>
        <p:nvPicPr>
          <p:cNvPr id="9218" name="Picture 2" descr="A new activation function for Neural Networks - logmoid">
            <a:extLst>
              <a:ext uri="{FF2B5EF4-FFF2-40B4-BE49-F238E27FC236}">
                <a16:creationId xmlns:a16="http://schemas.microsoft.com/office/drawing/2014/main" id="{C4D2418E-1789-6716-3555-9FFF5160D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67806"/>
            <a:ext cx="6012160" cy="257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46EFBD-BD64-E893-577D-D8B981B5ACF1}"/>
              </a:ext>
            </a:extLst>
          </p:cNvPr>
          <p:cNvSpPr txBox="1"/>
          <p:nvPr/>
        </p:nvSpPr>
        <p:spPr>
          <a:xfrm>
            <a:off x="683568" y="566559"/>
            <a:ext cx="219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Choose your non-linear f:</a:t>
            </a:r>
          </a:p>
        </p:txBody>
      </p:sp>
    </p:spTree>
    <p:extLst>
      <p:ext uri="{BB962C8B-B14F-4D97-AF65-F5344CB8AC3E}">
        <p14:creationId xmlns:p14="http://schemas.microsoft.com/office/powerpoint/2010/main" val="194349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CEA7-2CDF-7B6C-36CC-43EC0D465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299BFC1F-2C6C-52EC-46E5-B83A3707B812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3E3F647C-9B87-246D-AA90-D0F7A02439D7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Multiple layers – Deep learning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88E3DE2E-AAE5-BCF9-96C4-C1301A1DE6F1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E73D87-ACDD-59CD-1EAA-4B8B07B42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2493"/>
            <a:ext cx="2520280" cy="988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DA5B4E-4CA4-054F-6688-2D274FA35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250" y="4011910"/>
            <a:ext cx="3024336" cy="472917"/>
          </a:xfrm>
          <a:prstGeom prst="rect">
            <a:avLst/>
          </a:prstGeom>
        </p:spPr>
      </p:pic>
      <p:pic>
        <p:nvPicPr>
          <p:cNvPr id="10242" name="Picture 2" descr="D] Best Way to Draw Neural Network Diagrams : r/MachineLearning">
            <a:extLst>
              <a:ext uri="{FF2B5EF4-FFF2-40B4-BE49-F238E27FC236}">
                <a16:creationId xmlns:a16="http://schemas.microsoft.com/office/drawing/2014/main" id="{3AB9D160-0F13-D3AA-D301-E078D7E59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5" b="2742"/>
          <a:stretch/>
        </p:blipFill>
        <p:spPr bwMode="auto">
          <a:xfrm>
            <a:off x="3081538" y="938873"/>
            <a:ext cx="5018854" cy="285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973066-EF56-2BBB-AACB-0198A0178785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D5F5F-EF48-D519-E75C-FEB63818980C}"/>
              </a:ext>
            </a:extLst>
          </p:cNvPr>
          <p:cNvSpPr txBox="1"/>
          <p:nvPr/>
        </p:nvSpPr>
        <p:spPr>
          <a:xfrm>
            <a:off x="814294" y="2102041"/>
            <a:ext cx="1624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We need to escalate!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4824EF-D306-614D-54AB-0CAB58077682}"/>
              </a:ext>
            </a:extLst>
          </p:cNvPr>
          <p:cNvCxnSpPr>
            <a:cxnSpLocks/>
          </p:cNvCxnSpPr>
          <p:nvPr/>
        </p:nvCxnSpPr>
        <p:spPr bwMode="auto">
          <a:xfrm>
            <a:off x="1697314" y="1747668"/>
            <a:ext cx="1100099" cy="4812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98113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71EB3-1636-C9D1-A9E4-5667AD68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EF01327D-7472-E0BA-B11A-3CFA63A7D275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0721740-0D77-03E5-0ABA-160F818F686F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Multiple layers – Deep learning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9372B11-66B7-8D8E-76A6-34AD8EF6A634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4A8752-7EB0-ECC3-4A18-FFF7E74FB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2493"/>
            <a:ext cx="2520280" cy="9887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8085D1-031C-DD06-7BDC-168CAAEB4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250" y="4011910"/>
            <a:ext cx="3024336" cy="472917"/>
          </a:xfrm>
          <a:prstGeom prst="rect">
            <a:avLst/>
          </a:prstGeom>
        </p:spPr>
      </p:pic>
      <p:pic>
        <p:nvPicPr>
          <p:cNvPr id="10242" name="Picture 2" descr="D] Best Way to Draw Neural Network Diagrams : r/MachineLearning">
            <a:extLst>
              <a:ext uri="{FF2B5EF4-FFF2-40B4-BE49-F238E27FC236}">
                <a16:creationId xmlns:a16="http://schemas.microsoft.com/office/drawing/2014/main" id="{D4B672C7-DF80-69B1-E26A-06029EC1A9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75" b="2742"/>
          <a:stretch/>
        </p:blipFill>
        <p:spPr bwMode="auto">
          <a:xfrm>
            <a:off x="3081538" y="938873"/>
            <a:ext cx="5018854" cy="285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4BE67ED-11E5-2DC5-984E-F2C08C7C4AA0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16EB44-26BC-3A94-1D8D-185836EFCAEE}"/>
              </a:ext>
            </a:extLst>
          </p:cNvPr>
          <p:cNvSpPr txBox="1"/>
          <p:nvPr/>
        </p:nvSpPr>
        <p:spPr>
          <a:xfrm>
            <a:off x="814294" y="2102041"/>
            <a:ext cx="16246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We need to escalate!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C95953A-78B2-702B-985A-660CA93555B6}"/>
              </a:ext>
            </a:extLst>
          </p:cNvPr>
          <p:cNvCxnSpPr>
            <a:cxnSpLocks/>
          </p:cNvCxnSpPr>
          <p:nvPr/>
        </p:nvCxnSpPr>
        <p:spPr bwMode="auto">
          <a:xfrm>
            <a:off x="1697314" y="1747668"/>
            <a:ext cx="1100099" cy="4812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6F1BC7C-633A-40E1-5617-456A51BCE773}"/>
              </a:ext>
            </a:extLst>
          </p:cNvPr>
          <p:cNvCxnSpPr>
            <a:cxnSpLocks/>
          </p:cNvCxnSpPr>
          <p:nvPr/>
        </p:nvCxnSpPr>
        <p:spPr bwMode="auto">
          <a:xfrm flipH="1">
            <a:off x="1835696" y="2345349"/>
            <a:ext cx="3096344" cy="691141"/>
          </a:xfrm>
          <a:prstGeom prst="straightConnector1">
            <a:avLst/>
          </a:prstGeom>
          <a:ln w="28575"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F4192CD-FCA6-1C32-13DA-4DF3713E1661}"/>
              </a:ext>
            </a:extLst>
          </p:cNvPr>
          <p:cNvSpPr txBox="1"/>
          <p:nvPr/>
        </p:nvSpPr>
        <p:spPr>
          <a:xfrm>
            <a:off x="166083" y="2914622"/>
            <a:ext cx="264866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>
                <a:latin typeface="Arial"/>
              </a:rPr>
              <a:t>Observation:</a:t>
            </a:r>
          </a:p>
          <a:p>
            <a:r>
              <a:rPr lang="en-GB" sz="1600" b="1" i="1" dirty="0">
                <a:latin typeface="Arial"/>
              </a:rPr>
              <a:t>Outputs</a:t>
            </a:r>
            <a:r>
              <a:rPr lang="en-GB" sz="1600" i="1" dirty="0">
                <a:latin typeface="Arial"/>
              </a:rPr>
              <a:t> of a layer are the basis for the next layer </a:t>
            </a:r>
            <a:r>
              <a:rPr lang="en-GB" sz="1600" b="1" i="1" dirty="0">
                <a:latin typeface="Arial"/>
              </a:rPr>
              <a:t>input</a:t>
            </a:r>
            <a:endParaRPr lang="en-GB" sz="2000" b="1" i="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9288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676D3-7E67-7A48-6027-F295A970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D15CE94F-5039-5AAE-D24B-D4EE85EFD740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ACF405AA-7855-2046-B338-12B789479633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Multiple layers – Deep learning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2332781E-F9D7-7F84-8298-8AC9A2084768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B5A22-EE5C-0758-1318-2E59C29EBDE9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3030DB-90CA-BF5F-7025-8788FAB21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119"/>
          <a:stretch/>
        </p:blipFill>
        <p:spPr>
          <a:xfrm>
            <a:off x="1260748" y="1307388"/>
            <a:ext cx="6622504" cy="382040"/>
          </a:xfrm>
          <a:prstGeom prst="rect">
            <a:avLst/>
          </a:prstGeom>
        </p:spPr>
      </p:pic>
      <p:pic>
        <p:nvPicPr>
          <p:cNvPr id="12290" name="Picture 2" descr="Simple neural network diagram. | Download Scientific Diagram">
            <a:extLst>
              <a:ext uri="{FF2B5EF4-FFF2-40B4-BE49-F238E27FC236}">
                <a16:creationId xmlns:a16="http://schemas.microsoft.com/office/drawing/2014/main" id="{C9256D5F-194F-3846-1F69-E4EF17A7E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30" y="478710"/>
            <a:ext cx="1931938" cy="146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6251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6E0C-0503-503E-C8BA-5A0AF5A1B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F43D5BCB-FC41-0EFA-F724-98A577B6EC57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8B63E15-16E6-918E-1596-75827EEBA606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Multiple layers – Deep learning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73AE5A77-E60E-1B72-FA70-5D8106B828EC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4C369F-0A68-FEC5-5A4A-0A9F89D9FB72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E5E15-0EB9-A1C3-CC18-5CFA1F94AE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911"/>
          <a:stretch/>
        </p:blipFill>
        <p:spPr>
          <a:xfrm>
            <a:off x="1260748" y="1307387"/>
            <a:ext cx="6622504" cy="1048339"/>
          </a:xfrm>
          <a:prstGeom prst="rect">
            <a:avLst/>
          </a:prstGeom>
        </p:spPr>
      </p:pic>
      <p:pic>
        <p:nvPicPr>
          <p:cNvPr id="12290" name="Picture 2" descr="Simple neural network diagram. | Download Scientific Diagram">
            <a:extLst>
              <a:ext uri="{FF2B5EF4-FFF2-40B4-BE49-F238E27FC236}">
                <a16:creationId xmlns:a16="http://schemas.microsoft.com/office/drawing/2014/main" id="{4A6B038D-8645-5EE8-5122-E5543C55C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30" y="478710"/>
            <a:ext cx="1931938" cy="146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779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1FC2E-6FA5-8C0F-2F88-72378D59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646782DC-47FD-AB81-8F20-AF27603051D0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E2C97C9-54E9-B1FF-8A33-6CA83330E1D3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Multiple layers – Deep learning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B324DC34-0C07-E644-46DB-068CEF0C323B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01DF71-46D9-0D8D-6D6F-F25945EB49E4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9CFC60-7864-878A-3E86-147A88568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283"/>
          <a:stretch/>
        </p:blipFill>
        <p:spPr>
          <a:xfrm>
            <a:off x="1260748" y="1307387"/>
            <a:ext cx="6622504" cy="2056451"/>
          </a:xfrm>
          <a:prstGeom prst="rect">
            <a:avLst/>
          </a:prstGeom>
        </p:spPr>
      </p:pic>
      <p:pic>
        <p:nvPicPr>
          <p:cNvPr id="12290" name="Picture 2" descr="Simple neural network diagram. | Download Scientific Diagram">
            <a:extLst>
              <a:ext uri="{FF2B5EF4-FFF2-40B4-BE49-F238E27FC236}">
                <a16:creationId xmlns:a16="http://schemas.microsoft.com/office/drawing/2014/main" id="{58B50B61-BF76-0583-0553-4FD916896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30" y="478710"/>
            <a:ext cx="1931938" cy="146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4167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A95D3-C636-1A56-01CD-D4D8BABC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B63BA126-9069-42FA-63D3-93D66A2063A2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5C5152B-A785-4B73-C8CE-6A52428B9EEE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Multiple layers – Deep learning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A41BC099-843E-FD17-ACB1-34CD9DBA5749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5B4E14-5A28-9F1D-FBCD-77A16551466B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FD764-400C-3E67-DBA1-9B3E3FEE2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748" y="1307387"/>
            <a:ext cx="6622504" cy="2752331"/>
          </a:xfrm>
          <a:prstGeom prst="rect">
            <a:avLst/>
          </a:prstGeom>
        </p:spPr>
      </p:pic>
      <p:pic>
        <p:nvPicPr>
          <p:cNvPr id="12290" name="Picture 2" descr="Simple neural network diagram. | Download Scientific Diagram">
            <a:extLst>
              <a:ext uri="{FF2B5EF4-FFF2-40B4-BE49-F238E27FC236}">
                <a16:creationId xmlns:a16="http://schemas.microsoft.com/office/drawing/2014/main" id="{69C8C1CB-7F25-F3E2-828C-501E5B0C5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30" y="478710"/>
            <a:ext cx="1931938" cy="146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8734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2432520" y="330750"/>
            <a:ext cx="351513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>
                <a:solidFill>
                  <a:srgbClr val="FFFFFF"/>
                </a:solidFill>
                <a:latin typeface="Arial"/>
                <a:ea typeface="DejaVu Sans"/>
              </a:rPr>
              <a:t>Ridge regression</a:t>
            </a:r>
            <a:endParaRPr lang="en-US" sz="1500" spc="-1">
              <a:latin typeface="Arial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2411730" y="1167480"/>
            <a:ext cx="5245560" cy="37797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endParaRPr lang="en-US" sz="1350" spc="-1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350" spc="-1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7CF00184-C1A6-1202-6DB4-FCB9B54D5AD3}"/>
              </a:ext>
            </a:extLst>
          </p:cNvPr>
          <p:cNvSpPr/>
          <p:nvPr/>
        </p:nvSpPr>
        <p:spPr>
          <a:xfrm>
            <a:off x="251520" y="123478"/>
            <a:ext cx="554609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700" b="1" spc="-1" dirty="0">
                <a:solidFill>
                  <a:srgbClr val="0047B9"/>
                </a:solidFill>
                <a:latin typeface="Arial"/>
                <a:ea typeface="ＭＳ Ｐゴシック"/>
              </a:rPr>
              <a:t>Dropout Regularization</a:t>
            </a:r>
            <a:endParaRPr lang="en-US" sz="27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1050" spc="-1" dirty="0">
              <a:latin typeface="Arial"/>
            </a:endParaRPr>
          </a:p>
        </p:txBody>
      </p:sp>
      <p:pic>
        <p:nvPicPr>
          <p:cNvPr id="28674" name="Picture 2" descr="r/learnmachinelearning - Dropout in neural networks: what it is and how it works">
            <a:extLst>
              <a:ext uri="{FF2B5EF4-FFF2-40B4-BE49-F238E27FC236}">
                <a16:creationId xmlns:a16="http://schemas.microsoft.com/office/drawing/2014/main" id="{620D0CFF-DF01-1FE4-B156-6DDFA108C1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60"/>
          <a:stretch/>
        </p:blipFill>
        <p:spPr bwMode="auto">
          <a:xfrm>
            <a:off x="3319606" y="646456"/>
            <a:ext cx="5428858" cy="3949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AF29AF-56AC-8658-01F6-EE019BB5765D}"/>
              </a:ext>
            </a:extLst>
          </p:cNvPr>
          <p:cNvSpPr txBox="1"/>
          <p:nvPr/>
        </p:nvSpPr>
        <p:spPr>
          <a:xfrm>
            <a:off x="0" y="1316503"/>
            <a:ext cx="308318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0" i="0" dirty="0">
                <a:effectLst/>
                <a:latin typeface="Arial" panose="020B0604020202020204" pitchFamily="34" charset="0"/>
              </a:rPr>
              <a:t>Dropout is an </a:t>
            </a:r>
            <a:r>
              <a:rPr lang="en-GB" sz="1400" b="1" i="0" dirty="0">
                <a:effectLst/>
                <a:latin typeface="Arial" panose="020B0604020202020204" pitchFamily="34" charset="0"/>
              </a:rPr>
              <a:t>iterative</a:t>
            </a:r>
            <a:r>
              <a:rPr lang="en-GB" sz="1400" b="0" i="0" dirty="0">
                <a:effectLst/>
                <a:latin typeface="Arial" panose="020B0604020202020204" pitchFamily="34" charset="0"/>
              </a:rPr>
              <a:t> procedure wherein at each iteration </a:t>
            </a:r>
            <a:r>
              <a:rPr lang="en-GB" sz="1400" b="1" i="0" dirty="0">
                <a:effectLst/>
                <a:latin typeface="Arial" panose="020B0604020202020204" pitchFamily="34" charset="0"/>
              </a:rPr>
              <a:t>each node in the network is dropped </a:t>
            </a:r>
            <a:r>
              <a:rPr lang="en-GB" sz="1400" b="0" i="0" dirty="0">
                <a:effectLst/>
                <a:latin typeface="Arial" panose="020B0604020202020204" pitchFamily="34" charset="0"/>
              </a:rPr>
              <a:t>independently and</a:t>
            </a:r>
            <a:br>
              <a:rPr lang="en-GB" sz="1400" dirty="0"/>
            </a:br>
            <a:r>
              <a:rPr lang="en-GB" sz="1400" b="0" i="0" dirty="0">
                <a:effectLst/>
                <a:latin typeface="Arial" panose="020B0604020202020204" pitchFamily="34" charset="0"/>
              </a:rPr>
              <a:t>identically according to </a:t>
            </a:r>
            <a:r>
              <a:rPr lang="en-GB" sz="1400" i="0" dirty="0">
                <a:effectLst/>
                <a:latin typeface="Arial" panose="020B0604020202020204" pitchFamily="34" charset="0"/>
              </a:rPr>
              <a:t>a</a:t>
            </a:r>
            <a:r>
              <a:rPr lang="en-GB" sz="1400" b="1" i="0" dirty="0">
                <a:effectLst/>
                <a:latin typeface="Arial" panose="020B0604020202020204" pitchFamily="34" charset="0"/>
              </a:rPr>
              <a:t> Bernoulli random variable </a:t>
            </a:r>
            <a:r>
              <a:rPr lang="en-GB" sz="1400" b="0" i="0" dirty="0">
                <a:effectLst/>
                <a:latin typeface="Arial" panose="020B0604020202020204" pitchFamily="34" charset="0"/>
              </a:rPr>
              <a:t>with</a:t>
            </a:r>
            <a:br>
              <a:rPr lang="en-GB" sz="1400" dirty="0"/>
            </a:br>
            <a:r>
              <a:rPr lang="en-GB" sz="1400" b="0" i="0" dirty="0">
                <a:effectLst/>
                <a:latin typeface="Arial" panose="020B0604020202020204" pitchFamily="34" charset="0"/>
              </a:rPr>
              <a:t>parameter </a:t>
            </a:r>
            <a:r>
              <a:rPr lang="el-GR" sz="1400" b="0" i="0" dirty="0">
                <a:effectLst/>
                <a:latin typeface="Arial" panose="020B0604020202020204" pitchFamily="34" charset="0"/>
              </a:rPr>
              <a:t>θ.</a:t>
            </a:r>
            <a:endParaRPr lang="de-DE" sz="1400" b="0" i="0" dirty="0">
              <a:effectLst/>
              <a:latin typeface="Arial" panose="020B0604020202020204" pitchFamily="34" charset="0"/>
            </a:endParaRPr>
          </a:p>
          <a:p>
            <a:pPr algn="ctr"/>
            <a:endParaRPr lang="de-DE" sz="1400" spc="-1" dirty="0">
              <a:solidFill>
                <a:srgbClr val="0047B9"/>
              </a:solidFill>
              <a:latin typeface="Arial" panose="020B0604020202020204" pitchFamily="34" charset="0"/>
              <a:ea typeface="ＭＳ Ｐゴシック"/>
            </a:endParaRPr>
          </a:p>
          <a:p>
            <a:pPr algn="ctr"/>
            <a:endParaRPr lang="de-DE" sz="1400" b="1" i="1" spc="-1" dirty="0">
              <a:solidFill>
                <a:srgbClr val="0047B9"/>
              </a:solidFill>
              <a:latin typeface="Arial" panose="020B0604020202020204" pitchFamily="34" charset="0"/>
              <a:ea typeface="ＭＳ Ｐゴシック"/>
            </a:endParaRPr>
          </a:p>
          <a:p>
            <a:pPr algn="ctr"/>
            <a:endParaRPr lang="en-GB" sz="1400" b="1" i="1" spc="-1" dirty="0">
              <a:solidFill>
                <a:srgbClr val="0047B9"/>
              </a:solidFill>
              <a:latin typeface="Arial"/>
              <a:ea typeface="ＭＳ Ｐゴシック"/>
            </a:endParaRPr>
          </a:p>
          <a:p>
            <a:pPr algn="ctr"/>
            <a:r>
              <a:rPr lang="en-GB" sz="1600" spc="-1" dirty="0">
                <a:solidFill>
                  <a:srgbClr val="0047B9"/>
                </a:solidFill>
                <a:latin typeface="Arial"/>
                <a:ea typeface="ＭＳ Ｐゴシック"/>
              </a:rPr>
              <a:t>*Basic regularization method used in neural networks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92D883-E1A3-E0BB-4B20-8CFC42178BAC}"/>
              </a:ext>
            </a:extLst>
          </p:cNvPr>
          <p:cNvSpPr/>
          <p:nvPr/>
        </p:nvSpPr>
        <p:spPr bwMode="auto">
          <a:xfrm>
            <a:off x="3635896" y="3723878"/>
            <a:ext cx="2664296" cy="871843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456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1F962-6DB5-6B3B-5654-FFB57DFD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FB50EBCA-C1D1-790A-1011-2DFC0259D977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890ECC9-AB2F-994B-39A0-2137277ED644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886AC9-305D-08BB-F59C-67F7486E1F71}"/>
              </a:ext>
            </a:extLst>
          </p:cNvPr>
          <p:cNvSpPr txBox="1"/>
          <p:nvPr/>
        </p:nvSpPr>
        <p:spPr>
          <a:xfrm>
            <a:off x="2708689" y="898317"/>
            <a:ext cx="28360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altLang="en-DE" sz="2000" dirty="0">
                <a:solidFill>
                  <a:srgbClr val="0070C0"/>
                </a:solidFill>
                <a:latin typeface="Arial"/>
              </a:rPr>
              <a:t>rnaseq_nn_exercise.py</a:t>
            </a:r>
          </a:p>
          <a:p>
            <a:endParaRPr lang="en-GB" sz="2000" dirty="0">
              <a:latin typeface="Arial"/>
            </a:endParaRP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A9BC0C33-BA56-6ABB-2014-080D78242B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373" y="779668"/>
            <a:ext cx="636913" cy="636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6C2291-E8D8-2AD3-096A-B44CCE3BC3FF}"/>
              </a:ext>
            </a:extLst>
          </p:cNvPr>
          <p:cNvSpPr txBox="1"/>
          <p:nvPr/>
        </p:nvSpPr>
        <p:spPr>
          <a:xfrm>
            <a:off x="1057275" y="1624881"/>
            <a:ext cx="6890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/>
              </a:rPr>
              <a:t>- Blocks 5 to 6: Define the model architecture using </a:t>
            </a:r>
            <a:r>
              <a:rPr lang="en-GB" sz="2000" dirty="0" err="1">
                <a:latin typeface="Arial"/>
              </a:rPr>
              <a:t>pytorch</a:t>
            </a:r>
            <a:endParaRPr lang="en-GB" sz="20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8771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1CD0-B720-EAE5-E4E9-69F60E453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F4290EEA-3E6E-91FE-9CA6-CC6D2E1C8B3B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8586ED0-7899-DFD4-1C51-BA12F6039019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Multiple layers – Deep learning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B71495A8-0743-8056-6ADC-E718AF1B1F07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7066C-C4DF-1A5D-1821-45D708C85C5C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2290" name="Picture 2" descr="Simple neural network diagram. | Download Scientific Diagram">
            <a:extLst>
              <a:ext uri="{FF2B5EF4-FFF2-40B4-BE49-F238E27FC236}">
                <a16:creationId xmlns:a16="http://schemas.microsoft.com/office/drawing/2014/main" id="{371C21CE-CB7F-9C95-D852-8F4A288EE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30" y="478710"/>
            <a:ext cx="1931938" cy="146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A Brief Overview of Simple Linear Regression and its Implementation in  Python | by Prasad Meesala | Medium">
            <a:extLst>
              <a:ext uri="{FF2B5EF4-FFF2-40B4-BE49-F238E27FC236}">
                <a16:creationId xmlns:a16="http://schemas.microsoft.com/office/drawing/2014/main" id="{C690EA93-D23C-5181-9A9E-E23EEBA56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100" y="1256414"/>
            <a:ext cx="3347034" cy="18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8CF95B-9B58-30B2-AC95-8AB793195376}"/>
              </a:ext>
            </a:extLst>
          </p:cNvPr>
          <p:cNvSpPr txBox="1"/>
          <p:nvPr/>
        </p:nvSpPr>
        <p:spPr>
          <a:xfrm>
            <a:off x="2113568" y="2203419"/>
            <a:ext cx="27751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i="1" dirty="0">
                <a:latin typeface="Arial"/>
              </a:rPr>
              <a:t>How to compute errors</a:t>
            </a:r>
          </a:p>
          <a:p>
            <a:pPr algn="ctr"/>
            <a:r>
              <a:rPr lang="en-GB" sz="2000" i="1" dirty="0">
                <a:latin typeface="Arial"/>
              </a:rPr>
              <a:t>and learn from it?</a:t>
            </a:r>
          </a:p>
        </p:txBody>
      </p:sp>
    </p:spTree>
    <p:extLst>
      <p:ext uri="{BB962C8B-B14F-4D97-AF65-F5344CB8AC3E}">
        <p14:creationId xmlns:p14="http://schemas.microsoft.com/office/powerpoint/2010/main" val="2154952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05731-013E-A712-FB91-E1C16B03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84A8A622-AB3E-6689-4977-CC97E8487916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5127305C-ACBE-2E37-3443-A64C37620B62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Multiple layers – Deep learning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788927F4-39FA-AF5E-DF37-35A21752E221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A02060-167F-4F18-EA89-5C62AB605A44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2290" name="Picture 2" descr="Simple neural network diagram. | Download Scientific Diagram">
            <a:extLst>
              <a:ext uri="{FF2B5EF4-FFF2-40B4-BE49-F238E27FC236}">
                <a16:creationId xmlns:a16="http://schemas.microsoft.com/office/drawing/2014/main" id="{9872AB57-2619-DB21-49E5-91C62BFC6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30" y="478710"/>
            <a:ext cx="1931938" cy="146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A Brief Overview of Simple Linear Regression and its Implementation in  Python | by Prasad Meesala | Medium">
            <a:extLst>
              <a:ext uri="{FF2B5EF4-FFF2-40B4-BE49-F238E27FC236}">
                <a16:creationId xmlns:a16="http://schemas.microsoft.com/office/drawing/2014/main" id="{1F0E0A1C-50C9-48C8-A169-B3B868652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100" y="1256414"/>
            <a:ext cx="3347034" cy="188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4579D-2574-9B50-65C5-B34BB664A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568" y="2507546"/>
            <a:ext cx="2635967" cy="7645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82F98D-3EA3-AC96-A778-08CF6096AB54}"/>
              </a:ext>
            </a:extLst>
          </p:cNvPr>
          <p:cNvSpPr txBox="1"/>
          <p:nvPr/>
        </p:nvSpPr>
        <p:spPr>
          <a:xfrm>
            <a:off x="1978295" y="2018284"/>
            <a:ext cx="2860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>
                <a:latin typeface="Arial"/>
              </a:rPr>
              <a:t>Sums of squared errors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DA725-B633-8BB5-E834-116D1D0A25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949"/>
          <a:stretch/>
        </p:blipFill>
        <p:spPr>
          <a:xfrm>
            <a:off x="1527121" y="3679108"/>
            <a:ext cx="6622504" cy="55186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B38760-09F5-52A0-CD5F-F03643FECEE1}"/>
              </a:ext>
            </a:extLst>
          </p:cNvPr>
          <p:cNvCxnSpPr>
            <a:cxnSpLocks/>
          </p:cNvCxnSpPr>
          <p:nvPr/>
        </p:nvCxnSpPr>
        <p:spPr bwMode="auto">
          <a:xfrm flipH="1">
            <a:off x="1978295" y="2995359"/>
            <a:ext cx="2411973" cy="72851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949881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8C886-35FF-ED32-1215-430762BB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CE62D7A8-25CD-A255-844E-884FD1A73B63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5782D02-9F20-8B69-3838-F7D96BD1ACF8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Gradient concept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143B18A3-F9C9-2301-B0F5-922E3FEB6182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DF8792-8EF2-2359-5553-9D9E31FAAA76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56DA6B3C-31D6-842A-0CBE-8B65FB496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379" y="920829"/>
            <a:ext cx="4770504" cy="3577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B560D5-7515-4156-8E85-A57B2412E5CC}"/>
              </a:ext>
            </a:extLst>
          </p:cNvPr>
          <p:cNvSpPr txBox="1"/>
          <p:nvPr/>
        </p:nvSpPr>
        <p:spPr>
          <a:xfrm>
            <a:off x="251520" y="808244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2000" dirty="0" err="1">
              <a:latin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52A6B3-F988-E163-34A3-DCD9C565E592}"/>
              </a:ext>
            </a:extLst>
          </p:cNvPr>
          <p:cNvSpPr txBox="1"/>
          <p:nvPr/>
        </p:nvSpPr>
        <p:spPr>
          <a:xfrm>
            <a:off x="131599" y="768509"/>
            <a:ext cx="38535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i="1" dirty="0">
                <a:latin typeface="Arial"/>
              </a:rPr>
              <a:t>In vector calculus, the </a:t>
            </a:r>
            <a:r>
              <a:rPr lang="en-GB" sz="1800" b="1" i="1" dirty="0">
                <a:latin typeface="Arial"/>
              </a:rPr>
              <a:t>gradient</a:t>
            </a:r>
            <a:r>
              <a:rPr lang="en-GB" sz="1800" i="1" dirty="0">
                <a:latin typeface="Arial"/>
              </a:rPr>
              <a:t> of a scalar-valued </a:t>
            </a:r>
            <a:r>
              <a:rPr lang="en-GB" sz="1800" b="1" i="1" dirty="0">
                <a:latin typeface="Arial"/>
              </a:rPr>
              <a:t>differentiable function f</a:t>
            </a:r>
            <a:r>
              <a:rPr lang="en-GB" sz="1800" i="1" dirty="0">
                <a:latin typeface="Arial"/>
              </a:rPr>
              <a:t> of several variables is the vector field </a:t>
            </a:r>
            <a:r>
              <a:rPr lang="en-GB" sz="1800" b="1" i="1" dirty="0">
                <a:latin typeface="Arial"/>
              </a:rPr>
              <a:t>∇f</a:t>
            </a:r>
            <a:r>
              <a:rPr lang="en-GB" sz="1800" i="1" dirty="0">
                <a:latin typeface="Arial"/>
              </a:rPr>
              <a:t> whose value at a point p gives the </a:t>
            </a:r>
            <a:r>
              <a:rPr lang="en-GB" sz="1800" b="1" i="1" dirty="0">
                <a:latin typeface="Arial"/>
              </a:rPr>
              <a:t>direction and the rate of fastest increase</a:t>
            </a:r>
            <a:r>
              <a:rPr lang="en-GB" sz="1800" i="1" dirty="0"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0815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220A-F12D-B389-ADBF-0D8853A80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7BA7846B-0BCE-28A3-5471-B967E37D84FC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94E8604-FF4A-58F6-4B45-32659B636BAA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Gradient concept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F4C7955E-0875-128D-4E99-66EA823AF6F0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F4D6D-0300-2FD6-6E18-2BBEDFCC8F0E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6386" name="Picture 2" descr="Gradient | Calculus III">
            <a:extLst>
              <a:ext uri="{FF2B5EF4-FFF2-40B4-BE49-F238E27FC236}">
                <a16:creationId xmlns:a16="http://schemas.microsoft.com/office/drawing/2014/main" id="{2B741E99-6184-3C11-04B9-AEE5422E4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606" y="1084660"/>
            <a:ext cx="3823770" cy="336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C51EBC-3600-937D-5601-CAC07AA16901}"/>
              </a:ext>
            </a:extLst>
          </p:cNvPr>
          <p:cNvSpPr txBox="1"/>
          <p:nvPr/>
        </p:nvSpPr>
        <p:spPr>
          <a:xfrm>
            <a:off x="131599" y="768509"/>
            <a:ext cx="38535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i="1" dirty="0">
                <a:latin typeface="Arial"/>
              </a:rPr>
              <a:t>In vector calculus, the </a:t>
            </a:r>
            <a:r>
              <a:rPr lang="en-GB" sz="1800" b="1" i="1" dirty="0">
                <a:latin typeface="Arial"/>
              </a:rPr>
              <a:t>gradient</a:t>
            </a:r>
            <a:r>
              <a:rPr lang="en-GB" sz="1800" i="1" dirty="0">
                <a:latin typeface="Arial"/>
              </a:rPr>
              <a:t> of a scalar-valued </a:t>
            </a:r>
            <a:r>
              <a:rPr lang="en-GB" sz="1800" b="1" i="1" dirty="0">
                <a:latin typeface="Arial"/>
              </a:rPr>
              <a:t>differentiable function f</a:t>
            </a:r>
            <a:r>
              <a:rPr lang="en-GB" sz="1800" i="1" dirty="0">
                <a:latin typeface="Arial"/>
              </a:rPr>
              <a:t> of several variables is the vector field </a:t>
            </a:r>
            <a:r>
              <a:rPr lang="en-GB" sz="1800" b="1" i="1" dirty="0">
                <a:latin typeface="Arial"/>
              </a:rPr>
              <a:t>∇f</a:t>
            </a:r>
            <a:r>
              <a:rPr lang="en-GB" sz="1800" i="1" dirty="0">
                <a:latin typeface="Arial"/>
              </a:rPr>
              <a:t> whose value at a point p gives the </a:t>
            </a:r>
            <a:r>
              <a:rPr lang="en-GB" sz="1800" b="1" i="1" dirty="0">
                <a:latin typeface="Arial"/>
              </a:rPr>
              <a:t>direction and the rate of fastest increase</a:t>
            </a:r>
            <a:r>
              <a:rPr lang="en-GB" sz="1800" i="1" dirty="0"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1443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77B7D-8805-B37A-2F50-CB6913C4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099F27E4-E882-6533-BAB5-BBD60E3BF958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67BA4376-9396-FC12-2E3B-F9404A806796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Stochastic Gradient Descent</a:t>
            </a: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(SGD)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E4C0A475-173E-6CE2-877D-7AE6D4933CF6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B155A9-894D-2F67-E266-4E4C4E9D6682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00772-19AA-B562-E2FB-DF65D4078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774" y="2095202"/>
            <a:ext cx="3886200" cy="7226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BF7DD6-E400-FA13-6F99-5CCAE64AB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766" y="1246929"/>
            <a:ext cx="3958208" cy="830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404E69-5A7F-CB64-18CC-0073496512DE}"/>
              </a:ext>
            </a:extLst>
          </p:cNvPr>
          <p:cNvSpPr txBox="1"/>
          <p:nvPr/>
        </p:nvSpPr>
        <p:spPr>
          <a:xfrm>
            <a:off x="539552" y="1453694"/>
            <a:ext cx="2101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Objective Function: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E40629-B16C-095A-6D07-F2B5B9C2286C}"/>
              </a:ext>
            </a:extLst>
          </p:cNvPr>
          <p:cNvSpPr txBox="1"/>
          <p:nvPr/>
        </p:nvSpPr>
        <p:spPr>
          <a:xfrm>
            <a:off x="636614" y="2155502"/>
            <a:ext cx="1907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Partial Derivative of the obj. </a:t>
            </a:r>
            <a:r>
              <a:rPr lang="en-GB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funct</a:t>
            </a:r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C03CC-DBBE-4388-7CA1-80B4C9F41B3E}"/>
              </a:ext>
            </a:extLst>
          </p:cNvPr>
          <p:cNvSpPr txBox="1"/>
          <p:nvPr/>
        </p:nvSpPr>
        <p:spPr>
          <a:xfrm>
            <a:off x="1763688" y="3378774"/>
            <a:ext cx="510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i="1" dirty="0">
                <a:latin typeface="Arial"/>
              </a:rPr>
              <a:t>Exploiting the gradient to minimize the error loss</a:t>
            </a:r>
          </a:p>
        </p:txBody>
      </p:sp>
    </p:spTree>
    <p:extLst>
      <p:ext uri="{BB962C8B-B14F-4D97-AF65-F5344CB8AC3E}">
        <p14:creationId xmlns:p14="http://schemas.microsoft.com/office/powerpoint/2010/main" val="1143588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65846-79ED-E2A8-0213-E2DA5EA2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43B45B61-79DF-8E06-F560-219D7D3BE13A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2CC3D562-34D9-C45E-57AF-90408917BA4B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Stochastic Gradient Descent</a:t>
            </a: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(SGD)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E2C0E62A-3D5C-B83D-3921-9F3FFEDDC068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C4DCC-8191-6FAB-6C32-868ED28EFBB9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A1689-815C-7C6C-2BB7-3FA6DC1EE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834"/>
          <a:stretch/>
        </p:blipFill>
        <p:spPr>
          <a:xfrm>
            <a:off x="2003721" y="867943"/>
            <a:ext cx="939138" cy="7226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C98AAD-7C1F-51FF-F84A-71AC02929E35}"/>
              </a:ext>
            </a:extLst>
          </p:cNvPr>
          <p:cNvSpPr txBox="1"/>
          <p:nvPr/>
        </p:nvSpPr>
        <p:spPr>
          <a:xfrm>
            <a:off x="136809" y="867943"/>
            <a:ext cx="1907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Partial Derivative of the obj. </a:t>
            </a:r>
            <a:r>
              <a:rPr lang="en-GB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funct</a:t>
            </a:r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3F9DAE-3922-18CA-D724-AB8C702E4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239354"/>
            <a:ext cx="2908242" cy="1140991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A0303EE-856F-C861-469D-0A873E502D6C}"/>
              </a:ext>
            </a:extLst>
          </p:cNvPr>
          <p:cNvSpPr/>
          <p:nvPr/>
        </p:nvSpPr>
        <p:spPr bwMode="auto">
          <a:xfrm>
            <a:off x="2942859" y="3544063"/>
            <a:ext cx="765045" cy="395839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858665-7504-1F33-E06E-FE5343084055}"/>
              </a:ext>
            </a:extLst>
          </p:cNvPr>
          <p:cNvSpPr txBox="1"/>
          <p:nvPr/>
        </p:nvSpPr>
        <p:spPr>
          <a:xfrm>
            <a:off x="2606397" y="4044724"/>
            <a:ext cx="1965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C00000"/>
                </a:solidFill>
                <a:latin typeface="Arial"/>
              </a:rPr>
              <a:t>Compute error </a:t>
            </a:r>
          </a:p>
          <a:p>
            <a:r>
              <a:rPr lang="en-GB" sz="1200" i="1" dirty="0">
                <a:solidFill>
                  <a:srgbClr val="C00000"/>
                </a:solidFill>
                <a:latin typeface="Arial"/>
              </a:rPr>
              <a:t>Compute partial derivative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91326C3-47F1-8433-49AC-52E1A14AF9D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209697" y="1432040"/>
            <a:ext cx="733162" cy="20038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10371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EDF27-6132-6A4E-8488-80FCEB23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04637A4F-6D88-A3C2-8139-90F6530F2E38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FCB5E4A-EB2B-1B42-2EFF-468E1EAC25C1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Stochastic Gradient Descent</a:t>
            </a: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(SGD)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3F7CE64E-436A-33D4-3D28-EBCB6BD4718E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B82D81-242E-1D66-8D7C-C78E150C53DB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AC831A-6D47-C46A-CBB1-21243100C3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834"/>
          <a:stretch/>
        </p:blipFill>
        <p:spPr>
          <a:xfrm>
            <a:off x="2003721" y="867943"/>
            <a:ext cx="939138" cy="7226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2BD2EF-6556-04D2-ACB3-9A6C6257362C}"/>
              </a:ext>
            </a:extLst>
          </p:cNvPr>
          <p:cNvSpPr txBox="1"/>
          <p:nvPr/>
        </p:nvSpPr>
        <p:spPr>
          <a:xfrm>
            <a:off x="136809" y="867943"/>
            <a:ext cx="1907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Partial Derivative of the obj. </a:t>
            </a:r>
            <a:r>
              <a:rPr lang="en-GB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funct</a:t>
            </a:r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445182-E40A-7852-8653-9D717E7D2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239354"/>
            <a:ext cx="2908242" cy="114099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E4C3CA-ADFC-2F95-537C-2F6CAE7B3486}"/>
              </a:ext>
            </a:extLst>
          </p:cNvPr>
          <p:cNvCxnSpPr>
            <a:cxnSpLocks/>
          </p:cNvCxnSpPr>
          <p:nvPr/>
        </p:nvCxnSpPr>
        <p:spPr bwMode="auto">
          <a:xfrm>
            <a:off x="1902438" y="1380885"/>
            <a:ext cx="1141703" cy="64482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C678636-2C7A-508B-A67D-BEAFA72FBC93}"/>
              </a:ext>
            </a:extLst>
          </p:cNvPr>
          <p:cNvSpPr/>
          <p:nvPr/>
        </p:nvSpPr>
        <p:spPr bwMode="auto">
          <a:xfrm>
            <a:off x="1043608" y="3206994"/>
            <a:ext cx="2620210" cy="1140991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F96BA0-D627-08DE-0AAE-4EB303752860}"/>
              </a:ext>
            </a:extLst>
          </p:cNvPr>
          <p:cNvCxnSpPr>
            <a:cxnSpLocks/>
          </p:cNvCxnSpPr>
          <p:nvPr/>
        </p:nvCxnSpPr>
        <p:spPr bwMode="auto">
          <a:xfrm flipH="1">
            <a:off x="2473290" y="3363838"/>
            <a:ext cx="74712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B2F95A-3A2B-93F9-07C3-A3C37572B6CB}"/>
              </a:ext>
            </a:extLst>
          </p:cNvPr>
          <p:cNvCxnSpPr>
            <a:cxnSpLocks/>
          </p:cNvCxnSpPr>
          <p:nvPr/>
        </p:nvCxnSpPr>
        <p:spPr bwMode="auto">
          <a:xfrm flipH="1">
            <a:off x="2297018" y="3527392"/>
            <a:ext cx="74712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4243CAE-7BC8-F06F-0DF0-B7864F57881D}"/>
              </a:ext>
            </a:extLst>
          </p:cNvPr>
          <p:cNvSpPr txBox="1"/>
          <p:nvPr/>
        </p:nvSpPr>
        <p:spPr>
          <a:xfrm>
            <a:off x="2313964" y="4319910"/>
            <a:ext cx="2989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C00000"/>
                </a:solidFill>
                <a:latin typeface="Arial"/>
              </a:rPr>
              <a:t>Back-propagate error</a:t>
            </a:r>
          </a:p>
          <a:p>
            <a:r>
              <a:rPr lang="en-GB" sz="1200" i="1" dirty="0">
                <a:solidFill>
                  <a:srgbClr val="C00000"/>
                </a:solidFill>
                <a:latin typeface="Arial"/>
              </a:rPr>
              <a:t>Compute partial derivatives across layers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AE538C-96D4-B8C5-6C95-91D44D067120}"/>
              </a:ext>
            </a:extLst>
          </p:cNvPr>
          <p:cNvSpPr txBox="1"/>
          <p:nvPr/>
        </p:nvSpPr>
        <p:spPr>
          <a:xfrm>
            <a:off x="2964777" y="1929669"/>
            <a:ext cx="2989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Backpropagation algorithm (chain rule)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803975-7503-A2B3-66F0-23CDC1691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235" y="3727150"/>
            <a:ext cx="4392488" cy="5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90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1D86-CEFE-0B39-142E-6A85B49E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4BEB4A8F-58EE-E45F-ACE9-42609D4FB2CE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3B3EE08-A6DD-E636-2A9B-F0C155323637}"/>
              </a:ext>
            </a:extLst>
          </p:cNvPr>
          <p:cNvSpPr/>
          <p:nvPr/>
        </p:nvSpPr>
        <p:spPr>
          <a:xfrm>
            <a:off x="4193984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Stochastic Gradient Descent</a:t>
            </a:r>
          </a:p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(SGD)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50F0BE0C-4A28-11CA-ED89-AC72A050B62B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95D64-5350-81C2-3547-9DA9127FD7B9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0358B9-0B7E-5428-520A-30659BDEB0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834"/>
          <a:stretch/>
        </p:blipFill>
        <p:spPr>
          <a:xfrm>
            <a:off x="2003721" y="867943"/>
            <a:ext cx="939138" cy="7226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65A3F5-6FFA-2829-56D0-23A02EBBF364}"/>
              </a:ext>
            </a:extLst>
          </p:cNvPr>
          <p:cNvSpPr txBox="1"/>
          <p:nvPr/>
        </p:nvSpPr>
        <p:spPr>
          <a:xfrm>
            <a:off x="136809" y="867943"/>
            <a:ext cx="1907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Partial Derivative of the obj. </a:t>
            </a:r>
            <a:r>
              <a:rPr lang="en-GB" sz="16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funct</a:t>
            </a:r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0A80F-63C0-4E8E-6436-DCC0880F0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334" y="3544063"/>
            <a:ext cx="4192805" cy="8448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ED930C-BCA0-0D0D-88B0-A414165E9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3239354"/>
            <a:ext cx="2908242" cy="114099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BEEA03-0E0D-9147-64C0-FC0FF24755D0}"/>
              </a:ext>
            </a:extLst>
          </p:cNvPr>
          <p:cNvCxnSpPr>
            <a:cxnSpLocks/>
          </p:cNvCxnSpPr>
          <p:nvPr/>
        </p:nvCxnSpPr>
        <p:spPr bwMode="auto">
          <a:xfrm>
            <a:off x="1902438" y="1380885"/>
            <a:ext cx="1141703" cy="64482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9723EF7-B845-D478-D0CB-F626BA67E469}"/>
              </a:ext>
            </a:extLst>
          </p:cNvPr>
          <p:cNvSpPr/>
          <p:nvPr/>
        </p:nvSpPr>
        <p:spPr bwMode="auto">
          <a:xfrm>
            <a:off x="1518502" y="3206995"/>
            <a:ext cx="335111" cy="34592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224726-9A94-437B-0F46-C54B7E4CCD2F}"/>
              </a:ext>
            </a:extLst>
          </p:cNvPr>
          <p:cNvSpPr txBox="1"/>
          <p:nvPr/>
        </p:nvSpPr>
        <p:spPr>
          <a:xfrm>
            <a:off x="2313964" y="4319910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i="1" dirty="0">
                <a:solidFill>
                  <a:srgbClr val="C00000"/>
                </a:solidFill>
                <a:latin typeface="Arial"/>
              </a:rPr>
              <a:t>Update weights &amp; parameters</a:t>
            </a:r>
          </a:p>
          <a:p>
            <a:r>
              <a:rPr lang="en-GB" sz="1200" i="1" dirty="0">
                <a:solidFill>
                  <a:srgbClr val="C00000"/>
                </a:solidFill>
                <a:latin typeface="Arial"/>
              </a:rPr>
              <a:t>-for each layer-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2844E-C5AE-D7E8-5139-CAEFDCE8FE71}"/>
              </a:ext>
            </a:extLst>
          </p:cNvPr>
          <p:cNvSpPr txBox="1"/>
          <p:nvPr/>
        </p:nvSpPr>
        <p:spPr>
          <a:xfrm>
            <a:off x="2964777" y="1929669"/>
            <a:ext cx="2989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Backpropagation algorithm (chain rule)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7CCC8D-55BB-B3E0-7142-C2D9D74AE0DE}"/>
              </a:ext>
            </a:extLst>
          </p:cNvPr>
          <p:cNvCxnSpPr>
            <a:cxnSpLocks/>
          </p:cNvCxnSpPr>
          <p:nvPr/>
        </p:nvCxnSpPr>
        <p:spPr bwMode="auto">
          <a:xfrm>
            <a:off x="4572000" y="2562169"/>
            <a:ext cx="1141703" cy="64482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44983E5-5CE9-941F-EF48-10478F85A105}"/>
              </a:ext>
            </a:extLst>
          </p:cNvPr>
          <p:cNvSpPr txBox="1"/>
          <p:nvPr/>
        </p:nvSpPr>
        <p:spPr>
          <a:xfrm>
            <a:off x="5303885" y="2968140"/>
            <a:ext cx="29899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/>
              </a:rPr>
              <a:t>Update weights &amp; parameters accordingly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5A8B0F-CC49-54CC-6A78-5430218E742F}"/>
              </a:ext>
            </a:extLst>
          </p:cNvPr>
          <p:cNvSpPr/>
          <p:nvPr/>
        </p:nvSpPr>
        <p:spPr bwMode="auto">
          <a:xfrm>
            <a:off x="1518501" y="3973990"/>
            <a:ext cx="335111" cy="34592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8C2884-593B-8157-68FF-8A6A562836E5}"/>
              </a:ext>
            </a:extLst>
          </p:cNvPr>
          <p:cNvSpPr/>
          <p:nvPr/>
        </p:nvSpPr>
        <p:spPr bwMode="auto">
          <a:xfrm>
            <a:off x="2118048" y="3867894"/>
            <a:ext cx="195916" cy="216018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20482" name="Picture 2" descr="Stock-Vektorgrafik „Refresh update icon flat red round button vector  illustration“ | Adobe Stock">
            <a:extLst>
              <a:ext uri="{FF2B5EF4-FFF2-40B4-BE49-F238E27FC236}">
                <a16:creationId xmlns:a16="http://schemas.microsoft.com/office/drawing/2014/main" id="{7449CA60-595E-05C0-054F-1D8B1595A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914" y="2848169"/>
            <a:ext cx="330750" cy="33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Stock-Vektorgrafik „Refresh update icon flat red round button vector  illustration“ | Adobe Stock">
            <a:extLst>
              <a:ext uri="{FF2B5EF4-FFF2-40B4-BE49-F238E27FC236}">
                <a16:creationId xmlns:a16="http://schemas.microsoft.com/office/drawing/2014/main" id="{8EBEAE33-1B32-5E46-DDD0-824D2BCD3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214" y="4110182"/>
            <a:ext cx="330750" cy="33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Stock-Vektorgrafik „Refresh update icon flat red round button vector  illustration“ | Adobe Stock">
            <a:extLst>
              <a:ext uri="{FF2B5EF4-FFF2-40B4-BE49-F238E27FC236}">
                <a16:creationId xmlns:a16="http://schemas.microsoft.com/office/drawing/2014/main" id="{8D887AAB-F480-1255-A28B-3668B3CCD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365" y="4380133"/>
            <a:ext cx="330750" cy="33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B0AC2B-892F-52DD-87B5-4D898BFE322F}"/>
              </a:ext>
            </a:extLst>
          </p:cNvPr>
          <p:cNvSpPr/>
          <p:nvPr/>
        </p:nvSpPr>
        <p:spPr bwMode="auto">
          <a:xfrm>
            <a:off x="5580112" y="4110182"/>
            <a:ext cx="238365" cy="278700"/>
          </a:xfrm>
          <a:prstGeom prst="rect">
            <a:avLst/>
          </a:prstGeom>
          <a:noFill/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201F02-35AA-549D-A405-7A7A7D6BEF88}"/>
              </a:ext>
            </a:extLst>
          </p:cNvPr>
          <p:cNvSpPr txBox="1"/>
          <p:nvPr/>
        </p:nvSpPr>
        <p:spPr>
          <a:xfrm>
            <a:off x="4923280" y="4415277"/>
            <a:ext cx="1552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solidFill>
                  <a:srgbClr val="FFC000"/>
                </a:solidFill>
                <a:latin typeface="Arial"/>
              </a:rPr>
              <a:t>Learning Rate</a:t>
            </a:r>
          </a:p>
        </p:txBody>
      </p:sp>
    </p:spTree>
    <p:extLst>
      <p:ext uri="{BB962C8B-B14F-4D97-AF65-F5344CB8AC3E}">
        <p14:creationId xmlns:p14="http://schemas.microsoft.com/office/powerpoint/2010/main" val="262004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3895F-6280-7B61-79C7-464F66F5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9854457-84AE-226F-8832-8BBBF0C34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1889973"/>
            <a:ext cx="4318490" cy="1816702"/>
          </a:xfrm>
          <a:prstGeom prst="rect">
            <a:avLst/>
          </a:prstGeom>
        </p:spPr>
      </p:pic>
      <p:sp>
        <p:nvSpPr>
          <p:cNvPr id="106" name="CustomShape 1">
            <a:extLst>
              <a:ext uri="{FF2B5EF4-FFF2-40B4-BE49-F238E27FC236}">
                <a16:creationId xmlns:a16="http://schemas.microsoft.com/office/drawing/2014/main" id="{AAC14594-E426-12F4-5F53-2E0E4E60DF44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CE4D60C7-BE55-4254-D9F8-23E4F0A61849}"/>
              </a:ext>
            </a:extLst>
          </p:cNvPr>
          <p:cNvSpPr/>
          <p:nvPr/>
        </p:nvSpPr>
        <p:spPr>
          <a:xfrm>
            <a:off x="4758898" y="307754"/>
            <a:ext cx="4770504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Collection of loss functions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A87DFDBC-1504-155B-CD81-707B23160951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79AFC6-2329-ABFB-4C03-D9A287E471BE}"/>
              </a:ext>
            </a:extLst>
          </p:cNvPr>
          <p:cNvSpPr/>
          <p:nvPr/>
        </p:nvSpPr>
        <p:spPr bwMode="auto">
          <a:xfrm>
            <a:off x="7812360" y="940057"/>
            <a:ext cx="248350" cy="289207"/>
          </a:xfrm>
          <a:prstGeom prst="rect">
            <a:avLst/>
          </a:prstGeom>
          <a:solidFill>
            <a:schemeClr val="bg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23554" name="Picture 2" descr="Loss functions. Loss functions, also known as cost… | by Saba Hesaraki |  Medium">
            <a:extLst>
              <a:ext uri="{FF2B5EF4-FFF2-40B4-BE49-F238E27FC236}">
                <a16:creationId xmlns:a16="http://schemas.microsoft.com/office/drawing/2014/main" id="{6E2961AA-009F-618C-F805-B78594E08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69436"/>
            <a:ext cx="4433026" cy="420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2FD00D5-B872-715F-DF19-5C8F1A89B1DA}"/>
              </a:ext>
            </a:extLst>
          </p:cNvPr>
          <p:cNvSpPr txBox="1"/>
          <p:nvPr/>
        </p:nvSpPr>
        <p:spPr>
          <a:xfrm>
            <a:off x="5220072" y="1157685"/>
            <a:ext cx="3177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i="1" dirty="0">
                <a:latin typeface="Arial"/>
              </a:rPr>
              <a:t>Categorical Cross Entropy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8CF5BA-D245-7BB3-666F-C9CC92CCB8B0}"/>
              </a:ext>
            </a:extLst>
          </p:cNvPr>
          <p:cNvCxnSpPr>
            <a:cxnSpLocks/>
          </p:cNvCxnSpPr>
          <p:nvPr/>
        </p:nvCxnSpPr>
        <p:spPr bwMode="auto">
          <a:xfrm>
            <a:off x="7724817" y="1889973"/>
            <a:ext cx="0" cy="2691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EAD0729-B865-EA57-5844-58838EAF2A55}"/>
              </a:ext>
            </a:extLst>
          </p:cNvPr>
          <p:cNvSpPr txBox="1"/>
          <p:nvPr/>
        </p:nvSpPr>
        <p:spPr>
          <a:xfrm>
            <a:off x="5940152" y="1625990"/>
            <a:ext cx="26548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Arial"/>
              </a:rPr>
              <a:t>Distribution of predicted probabilities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8E1E57-B245-666C-37E6-0E1595583F8C}"/>
              </a:ext>
            </a:extLst>
          </p:cNvPr>
          <p:cNvSpPr txBox="1"/>
          <p:nvPr/>
        </p:nvSpPr>
        <p:spPr>
          <a:xfrm>
            <a:off x="5722143" y="3974917"/>
            <a:ext cx="3090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/>
              </a:rPr>
              <a:t>… with activation function</a:t>
            </a:r>
          </a:p>
          <a:p>
            <a:r>
              <a:rPr lang="en-GB" sz="2000" dirty="0">
                <a:latin typeface="Arial"/>
              </a:rPr>
              <a:t>		SoftMax</a:t>
            </a:r>
          </a:p>
        </p:txBody>
      </p:sp>
    </p:spTree>
    <p:extLst>
      <p:ext uri="{BB962C8B-B14F-4D97-AF65-F5344CB8AC3E}">
        <p14:creationId xmlns:p14="http://schemas.microsoft.com/office/powerpoint/2010/main" val="1223448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F8079-C9F0-20AF-C67F-2CD888BD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EA933A82-3434-E592-BDF6-460D409624F4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CD052340-7180-4F14-D180-AE64F86FE0C3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B0DF7-B1D9-2A20-3DC5-FD0B5FFA5520}"/>
              </a:ext>
            </a:extLst>
          </p:cNvPr>
          <p:cNvSpPr txBox="1"/>
          <p:nvPr/>
        </p:nvSpPr>
        <p:spPr>
          <a:xfrm>
            <a:off x="2708689" y="898317"/>
            <a:ext cx="28360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altLang="en-DE" sz="2000" dirty="0">
                <a:solidFill>
                  <a:srgbClr val="0070C0"/>
                </a:solidFill>
                <a:latin typeface="Arial"/>
              </a:rPr>
              <a:t>rnaseq_nn_exercise.py</a:t>
            </a:r>
          </a:p>
          <a:p>
            <a:endParaRPr lang="en-GB" sz="2000" dirty="0">
              <a:latin typeface="Arial"/>
            </a:endParaRP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A4767DBE-2EC1-530D-1065-0EFDDF7806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373" y="779668"/>
            <a:ext cx="636913" cy="636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189D22-5FCC-5E3E-295B-A5B862C2BB55}"/>
              </a:ext>
            </a:extLst>
          </p:cNvPr>
          <p:cNvSpPr txBox="1"/>
          <p:nvPr/>
        </p:nvSpPr>
        <p:spPr>
          <a:xfrm>
            <a:off x="1057275" y="1624881"/>
            <a:ext cx="6862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/>
              </a:rPr>
              <a:t>- Blocks 7 to 8: Define training parameter and exec training</a:t>
            </a:r>
          </a:p>
        </p:txBody>
      </p:sp>
    </p:spTree>
    <p:extLst>
      <p:ext uri="{BB962C8B-B14F-4D97-AF65-F5344CB8AC3E}">
        <p14:creationId xmlns:p14="http://schemas.microsoft.com/office/powerpoint/2010/main" val="3238239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8C7C0-D851-7734-F541-95EBBC29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8DA44EC2-1A2C-24A7-5C53-9BD9353AE6E5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62B7022-D1A6-7BEB-65B1-A237105F5712}"/>
              </a:ext>
            </a:extLst>
          </p:cNvPr>
          <p:cNvSpPr/>
          <p:nvPr/>
        </p:nvSpPr>
        <p:spPr>
          <a:xfrm>
            <a:off x="4139952" y="307754"/>
            <a:ext cx="4950016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When does the training ends?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6D90FAC3-734A-78DC-10D9-06E45F141A4C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22530" name="Picture 2" descr="Loss and Accuracy Curves (Training and Validation) | Download Scientific  Diagram">
            <a:extLst>
              <a:ext uri="{FF2B5EF4-FFF2-40B4-BE49-F238E27FC236}">
                <a16:creationId xmlns:a16="http://schemas.microsoft.com/office/drawing/2014/main" id="{86333B1B-CCD0-399B-2D4D-65F6036688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57" b="4961"/>
          <a:stretch/>
        </p:blipFill>
        <p:spPr bwMode="auto">
          <a:xfrm>
            <a:off x="1748766" y="1252260"/>
            <a:ext cx="5140093" cy="327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597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47C79-1CA9-E3EA-957D-C25C88142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E8FEB4CA-CA24-BA2A-5D30-3AC2539C8D29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775542F6-8785-E507-4C06-C8BF1536FBBF}"/>
              </a:ext>
            </a:extLst>
          </p:cNvPr>
          <p:cNvSpPr/>
          <p:nvPr/>
        </p:nvSpPr>
        <p:spPr>
          <a:xfrm>
            <a:off x="4139952" y="307754"/>
            <a:ext cx="4950016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b="1" spc="-1" dirty="0">
                <a:solidFill>
                  <a:srgbClr val="0070C0"/>
                </a:solidFill>
                <a:latin typeface="Arial"/>
                <a:ea typeface="ＭＳ Ｐゴシック"/>
              </a:rPr>
              <a:t>When does this nightmare ends?</a:t>
            </a:r>
            <a:endParaRPr lang="en-US" spc="-1" dirty="0">
              <a:solidFill>
                <a:srgbClr val="0070C0"/>
              </a:solidFill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8D6A10E8-4957-636C-F448-B9CE9B1EA295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pic>
        <p:nvPicPr>
          <p:cNvPr id="22530" name="Picture 2" descr="Loss and Accuracy Curves (Training and Validation) | Download Scientific  Diagram">
            <a:extLst>
              <a:ext uri="{FF2B5EF4-FFF2-40B4-BE49-F238E27FC236}">
                <a16:creationId xmlns:a16="http://schemas.microsoft.com/office/drawing/2014/main" id="{DCF944FB-0E77-7352-E6EB-A8F2C4EDC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57" b="4961"/>
          <a:stretch/>
        </p:blipFill>
        <p:spPr bwMode="auto">
          <a:xfrm>
            <a:off x="1748766" y="1252260"/>
            <a:ext cx="5140093" cy="327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3D25BE-1D12-D885-4908-BD017717006F}"/>
              </a:ext>
            </a:extLst>
          </p:cNvPr>
          <p:cNvCxnSpPr/>
          <p:nvPr/>
        </p:nvCxnSpPr>
        <p:spPr bwMode="auto">
          <a:xfrm>
            <a:off x="3275856" y="1419622"/>
            <a:ext cx="0" cy="2808312"/>
          </a:xfrm>
          <a:prstGeom prst="line">
            <a:avLst/>
          </a:prstGeom>
          <a:ln w="28575"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DA167D-4C2F-3394-60C9-791AB144565D}"/>
              </a:ext>
            </a:extLst>
          </p:cNvPr>
          <p:cNvSpPr txBox="1"/>
          <p:nvPr/>
        </p:nvSpPr>
        <p:spPr>
          <a:xfrm>
            <a:off x="2286560" y="915269"/>
            <a:ext cx="18533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/>
              </a:rPr>
              <a:t>Early Stopping</a:t>
            </a:r>
          </a:p>
        </p:txBody>
      </p:sp>
    </p:spTree>
    <p:extLst>
      <p:ext uri="{BB962C8B-B14F-4D97-AF65-F5344CB8AC3E}">
        <p14:creationId xmlns:p14="http://schemas.microsoft.com/office/powerpoint/2010/main" val="2103337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107F2-2784-AD4D-5375-778B0E477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>
            <a:extLst>
              <a:ext uri="{FF2B5EF4-FFF2-40B4-BE49-F238E27FC236}">
                <a16:creationId xmlns:a16="http://schemas.microsoft.com/office/drawing/2014/main" id="{63878213-EB85-A7F0-2490-BD301842212C}"/>
              </a:ext>
            </a:extLst>
          </p:cNvPr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D9BE22CF-31B9-E48A-A1AB-46C66B24AF6A}"/>
              </a:ext>
            </a:extLst>
          </p:cNvPr>
          <p:cNvSpPr/>
          <p:nvPr/>
        </p:nvSpPr>
        <p:spPr>
          <a:xfrm>
            <a:off x="33152" y="18547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000" b="1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z="20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90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900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AA663-FF81-FCBC-FD7E-0BCC1C923CD9}"/>
              </a:ext>
            </a:extLst>
          </p:cNvPr>
          <p:cNvSpPr txBox="1"/>
          <p:nvPr/>
        </p:nvSpPr>
        <p:spPr>
          <a:xfrm>
            <a:off x="2708689" y="898317"/>
            <a:ext cx="28360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altLang="en-DE" sz="2000" dirty="0">
                <a:solidFill>
                  <a:srgbClr val="0070C0"/>
                </a:solidFill>
                <a:latin typeface="Arial"/>
              </a:rPr>
              <a:t>rnaseq_nn_exercise.py</a:t>
            </a:r>
          </a:p>
          <a:p>
            <a:endParaRPr lang="en-GB" sz="2000" dirty="0">
              <a:latin typeface="Arial"/>
            </a:endParaRPr>
          </a:p>
        </p:txBody>
      </p:sp>
      <p:pic>
        <p:nvPicPr>
          <p:cNvPr id="8" name="Graphic 7" descr="Scroll with solid fill">
            <a:extLst>
              <a:ext uri="{FF2B5EF4-FFF2-40B4-BE49-F238E27FC236}">
                <a16:creationId xmlns:a16="http://schemas.microsoft.com/office/drawing/2014/main" id="{4A7DB82E-2131-72E6-6762-FCB2D08B84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1373" y="779668"/>
            <a:ext cx="636913" cy="6369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E4D743-6C9E-D6DD-F260-3014AFA184F6}"/>
              </a:ext>
            </a:extLst>
          </p:cNvPr>
          <p:cNvSpPr txBox="1"/>
          <p:nvPr/>
        </p:nvSpPr>
        <p:spPr>
          <a:xfrm>
            <a:off x="1057275" y="1624881"/>
            <a:ext cx="623157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latin typeface="Arial"/>
              </a:rPr>
              <a:t>- Block 9: Model evaluation</a:t>
            </a:r>
          </a:p>
          <a:p>
            <a:endParaRPr lang="en-GB" sz="2000" dirty="0">
              <a:latin typeface="Arial"/>
            </a:endParaRPr>
          </a:p>
          <a:p>
            <a:r>
              <a:rPr lang="en-GB" sz="2000" dirty="0">
                <a:latin typeface="Arial"/>
              </a:rPr>
              <a:t>If time allows: </a:t>
            </a:r>
          </a:p>
          <a:p>
            <a:r>
              <a:rPr lang="en-GB" sz="1600" i="1" dirty="0">
                <a:latin typeface="Arial"/>
              </a:rPr>
              <a:t>-    Test different model hyperparameter (++layers, n. of neurons…)</a:t>
            </a:r>
          </a:p>
          <a:p>
            <a:pPr marL="285750" indent="-285750">
              <a:buFontTx/>
              <a:buChar char="-"/>
            </a:pPr>
            <a:r>
              <a:rPr lang="en-GB" sz="1600" i="1" dirty="0">
                <a:latin typeface="Arial"/>
              </a:rPr>
              <a:t>Data preprocessing (top variable genes + 0 </a:t>
            </a:r>
            <a:r>
              <a:rPr lang="en-GB" sz="1600" i="1" dirty="0" err="1">
                <a:latin typeface="Arial"/>
              </a:rPr>
              <a:t>exprs</a:t>
            </a:r>
            <a:r>
              <a:rPr lang="en-GB" sz="1600" i="1" dirty="0">
                <a:latin typeface="Arial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GB" sz="1600" i="1" dirty="0">
                <a:latin typeface="Arial"/>
              </a:rPr>
              <a:t>Training overfitting (early stop vs long training)</a:t>
            </a:r>
          </a:p>
        </p:txBody>
      </p:sp>
    </p:spTree>
    <p:extLst>
      <p:ext uri="{BB962C8B-B14F-4D97-AF65-F5344CB8AC3E}">
        <p14:creationId xmlns:p14="http://schemas.microsoft.com/office/powerpoint/2010/main" val="766411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CustomShape 1"/>
          <p:cNvSpPr/>
          <p:nvPr/>
        </p:nvSpPr>
        <p:spPr>
          <a:xfrm>
            <a:off x="2473290" y="330750"/>
            <a:ext cx="835920" cy="295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67500" tIns="33750" rIns="67500" bIns="33750" anchor="b"/>
          <a:lstStyle/>
          <a:p>
            <a:pPr>
              <a:lnSpc>
                <a:spcPct val="100000"/>
              </a:lnSpc>
            </a:pPr>
            <a:r>
              <a:rPr lang="en-US" sz="1500" b="1" spc="-1" dirty="0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lang="en-US" sz="1500" spc="-1" dirty="0">
              <a:latin typeface="Arial"/>
            </a:endParaRPr>
          </a:p>
        </p:txBody>
      </p:sp>
      <p:sp>
        <p:nvSpPr>
          <p:cNvPr id="3" name="CustomShape 2">
            <a:extLst>
              <a:ext uri="{FF2B5EF4-FFF2-40B4-BE49-F238E27FC236}">
                <a16:creationId xmlns:a16="http://schemas.microsoft.com/office/drawing/2014/main" id="{B9A3CD3A-4245-5714-46C8-8FE58B2428AF}"/>
              </a:ext>
            </a:extLst>
          </p:cNvPr>
          <p:cNvSpPr/>
          <p:nvPr/>
        </p:nvSpPr>
        <p:spPr>
          <a:xfrm>
            <a:off x="467544" y="123478"/>
            <a:ext cx="5330070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2700" b="1" spc="-1" dirty="0">
                <a:solidFill>
                  <a:srgbClr val="0047B9"/>
                </a:solidFill>
                <a:latin typeface="Arial"/>
                <a:ea typeface="ＭＳ Ｐゴシック"/>
              </a:rPr>
              <a:t>A Complexity problem:</a:t>
            </a:r>
            <a:endParaRPr lang="en-US" sz="27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1050" spc="-1" dirty="0"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3BE7D1-4548-710B-F489-19D55FBBB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35780" y="1298674"/>
            <a:ext cx="6156500" cy="3361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D2DD0B-94EA-AD4D-F32D-EB291769CC71}"/>
              </a:ext>
            </a:extLst>
          </p:cNvPr>
          <p:cNvSpPr txBox="1"/>
          <p:nvPr/>
        </p:nvSpPr>
        <p:spPr>
          <a:xfrm>
            <a:off x="954464" y="833942"/>
            <a:ext cx="3924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spc="-1" dirty="0">
                <a:solidFill>
                  <a:srgbClr val="0047B9"/>
                </a:solidFill>
                <a:latin typeface="Arial"/>
                <a:ea typeface="ＭＳ Ｐゴシック"/>
              </a:rPr>
              <a:t>State of the art of popular AI models:</a:t>
            </a:r>
            <a:endParaRPr lang="en-GB" sz="1800" dirty="0" err="1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D0D318-9F8B-C032-70D7-C612A644F9EF}"/>
              </a:ext>
            </a:extLst>
          </p:cNvPr>
          <p:cNvSpPr txBox="1"/>
          <p:nvPr/>
        </p:nvSpPr>
        <p:spPr>
          <a:xfrm>
            <a:off x="7092280" y="2427734"/>
            <a:ext cx="1646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C00000"/>
                </a:solidFill>
                <a:latin typeface="Arial"/>
              </a:rPr>
              <a:t>complexity of AI models</a:t>
            </a:r>
            <a:endParaRPr lang="en-GB" sz="1600" b="1" dirty="0">
              <a:solidFill>
                <a:srgbClr val="C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8610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2B6C-B588-3E18-D097-E34F4BE8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>
            <a:extLst>
              <a:ext uri="{FF2B5EF4-FFF2-40B4-BE49-F238E27FC236}">
                <a16:creationId xmlns:a16="http://schemas.microsoft.com/office/drawing/2014/main" id="{5EFC3FCF-97E2-3C85-CDB0-047DCD46DD1A}"/>
              </a:ext>
            </a:extLst>
          </p:cNvPr>
          <p:cNvSpPr/>
          <p:nvPr/>
        </p:nvSpPr>
        <p:spPr>
          <a:xfrm>
            <a:off x="1906964" y="2300339"/>
            <a:ext cx="1584915" cy="2979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47B9"/>
                </a:solidFill>
                <a:latin typeface="Arial"/>
                <a:ea typeface="ＭＳ Ｐゴシック"/>
              </a:rPr>
              <a:t>22 April 2026</a:t>
            </a:r>
            <a:endParaRPr lang="en-US" sz="1400" spc="-1" dirty="0">
              <a:latin typeface="Arial"/>
            </a:endParaRPr>
          </a:p>
        </p:txBody>
      </p:sp>
      <p:sp>
        <p:nvSpPr>
          <p:cNvPr id="103" name="CustomShape 2">
            <a:extLst>
              <a:ext uri="{FF2B5EF4-FFF2-40B4-BE49-F238E27FC236}">
                <a16:creationId xmlns:a16="http://schemas.microsoft.com/office/drawing/2014/main" id="{3C9E44E9-D22A-ECCB-9DD3-B131661A3A1E}"/>
              </a:ext>
            </a:extLst>
          </p:cNvPr>
          <p:cNvSpPr/>
          <p:nvPr/>
        </p:nvSpPr>
        <p:spPr>
          <a:xfrm>
            <a:off x="1906964" y="1125452"/>
            <a:ext cx="5689371" cy="9215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/>
          <a:lstStyle/>
          <a:p>
            <a:r>
              <a:rPr lang="en-US" sz="3200" b="1" spc="-1" dirty="0">
                <a:solidFill>
                  <a:srgbClr val="0047B9"/>
                </a:solidFill>
                <a:latin typeface="Arial"/>
                <a:ea typeface="ＭＳ Ｐゴシック"/>
              </a:rPr>
              <a:t>Bioinformatics at the DKFZ</a:t>
            </a:r>
            <a:endParaRPr lang="en-US" sz="3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50" b="1" spc="-1" dirty="0">
                <a:solidFill>
                  <a:srgbClr val="0047B9"/>
                </a:solidFill>
                <a:latin typeface="Arial"/>
                <a:ea typeface="ＭＳ Ｐゴシック"/>
              </a:rPr>
              <a:t> </a:t>
            </a:r>
            <a:endParaRPr lang="en-US" sz="105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47B9"/>
                </a:solidFill>
                <a:latin typeface="Arial"/>
                <a:ea typeface="ＭＳ Ｐゴシック"/>
              </a:rPr>
              <a:t>Introduction to Neural Networks</a:t>
            </a:r>
            <a:endParaRPr lang="en-US" spc="-1" dirty="0">
              <a:latin typeface="Arial"/>
            </a:endParaRPr>
          </a:p>
        </p:txBody>
      </p:sp>
      <p:sp>
        <p:nvSpPr>
          <p:cNvPr id="104" name="CustomShape 3">
            <a:extLst>
              <a:ext uri="{FF2B5EF4-FFF2-40B4-BE49-F238E27FC236}">
                <a16:creationId xmlns:a16="http://schemas.microsoft.com/office/drawing/2014/main" id="{09F2DC2E-0E7C-65E0-26B3-EB8CB1C77F34}"/>
              </a:ext>
            </a:extLst>
          </p:cNvPr>
          <p:cNvSpPr/>
          <p:nvPr/>
        </p:nvSpPr>
        <p:spPr>
          <a:xfrm>
            <a:off x="2699421" y="3484841"/>
            <a:ext cx="4799790" cy="6542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/>
          <a:lstStyle/>
          <a:p>
            <a:pPr>
              <a:lnSpc>
                <a:spcPct val="150000"/>
              </a:lnSpc>
            </a:pPr>
            <a:r>
              <a:rPr lang="en-US" sz="1600" spc="-1" dirty="0">
                <a:solidFill>
                  <a:srgbClr val="0047B9"/>
                </a:solidFill>
                <a:latin typeface="Arial"/>
                <a:ea typeface="ＭＳ Ｐゴシック"/>
              </a:rPr>
              <a:t>Dr. </a:t>
            </a:r>
            <a:r>
              <a:rPr lang="en-US" sz="1600" spc="-1" dirty="0" err="1">
                <a:solidFill>
                  <a:srgbClr val="0047B9"/>
                </a:solidFill>
                <a:latin typeface="Arial"/>
                <a:ea typeface="ＭＳ Ｐゴシック"/>
              </a:rPr>
              <a:t>Óscar</a:t>
            </a:r>
            <a:r>
              <a:rPr lang="en-US" sz="1600" spc="-1" dirty="0">
                <a:solidFill>
                  <a:srgbClr val="0047B9"/>
                </a:solidFill>
                <a:latin typeface="Arial"/>
                <a:ea typeface="ＭＳ Ｐゴシック"/>
              </a:rPr>
              <a:t> González-Velasco </a:t>
            </a:r>
          </a:p>
          <a:p>
            <a:pPr>
              <a:lnSpc>
                <a:spcPct val="150000"/>
              </a:lnSpc>
            </a:pPr>
            <a:r>
              <a:rPr lang="en-US" sz="1200" i="1" spc="-1" dirty="0">
                <a:solidFill>
                  <a:srgbClr val="0047B9"/>
                </a:solidFill>
                <a:latin typeface="Arial"/>
                <a:ea typeface="ＭＳ Ｐゴシック"/>
              </a:rPr>
              <a:t>B330 - Division of Applied Bioinformatics</a:t>
            </a:r>
          </a:p>
          <a:p>
            <a:r>
              <a:rPr lang="en-US" sz="1200" i="1" spc="-1" dirty="0">
                <a:solidFill>
                  <a:srgbClr val="0047B9"/>
                </a:solidFill>
                <a:latin typeface="Arial"/>
                <a:ea typeface="ＭＳ Ｐゴシック"/>
              </a:rPr>
              <a:t>(</a:t>
            </a:r>
            <a:r>
              <a:rPr lang="en-US" sz="1200" i="1" spc="-1" dirty="0" err="1">
                <a:solidFill>
                  <a:srgbClr val="0047B9"/>
                </a:solidFill>
                <a:latin typeface="Arial"/>
                <a:ea typeface="ＭＳ Ｐゴシック"/>
              </a:rPr>
              <a:t>oscar.gonzalezvelasco@dkfz-heidelberg.de</a:t>
            </a:r>
            <a:r>
              <a:rPr lang="en-US" sz="1200" i="1" spc="-1" dirty="0">
                <a:solidFill>
                  <a:srgbClr val="0047B9"/>
                </a:solidFill>
                <a:latin typeface="Arial"/>
                <a:ea typeface="ＭＳ Ｐゴシック"/>
              </a:rPr>
              <a:t>)</a:t>
            </a:r>
            <a:endParaRPr lang="en-US" sz="1200" i="1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i="1" spc="-1" dirty="0">
              <a:latin typeface="Arial"/>
            </a:endParaRPr>
          </a:p>
        </p:txBody>
      </p:sp>
      <p:sp>
        <p:nvSpPr>
          <p:cNvPr id="105" name="CustomShape 4">
            <a:extLst>
              <a:ext uri="{FF2B5EF4-FFF2-40B4-BE49-F238E27FC236}">
                <a16:creationId xmlns:a16="http://schemas.microsoft.com/office/drawing/2014/main" id="{C02F1CCF-FD2D-0729-93A9-416E1DC5F257}"/>
              </a:ext>
            </a:extLst>
          </p:cNvPr>
          <p:cNvSpPr/>
          <p:nvPr/>
        </p:nvSpPr>
        <p:spPr>
          <a:xfrm>
            <a:off x="2596680" y="4164750"/>
            <a:ext cx="137430" cy="34209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601882"/>
      </p:ext>
    </p:extLst>
  </p:cSld>
  <p:clrMapOvr>
    <a:masterClrMapping/>
  </p:clrMapOvr>
</p:sld>
</file>

<file path=ppt/theme/theme1.xml><?xml version="1.0" encoding="utf-8"?>
<a:theme xmlns:a="http://schemas.openxmlformats.org/drawingml/2006/main" name="t3_ver_b_en">
  <a:themeElements>
    <a:clrScheme name="Benutzerdefiniert 4">
      <a:dk1>
        <a:srgbClr val="000000"/>
      </a:dk1>
      <a:lt1>
        <a:srgbClr val="BFD1ED"/>
      </a:lt1>
      <a:dk2>
        <a:srgbClr val="0047B9"/>
      </a:dk2>
      <a:lt2>
        <a:srgbClr val="FFFFFF"/>
      </a:lt2>
      <a:accent1>
        <a:srgbClr val="0047B9"/>
      </a:accent1>
      <a:accent2>
        <a:srgbClr val="FF5C00"/>
      </a:accent2>
      <a:accent3>
        <a:srgbClr val="FFD600"/>
      </a:accent3>
      <a:accent4>
        <a:srgbClr val="009933"/>
      </a:accent4>
      <a:accent5>
        <a:srgbClr val="A0B400"/>
      </a:accent5>
      <a:accent6>
        <a:srgbClr val="E5007D"/>
      </a:accent6>
      <a:hlink>
        <a:srgbClr val="009EE3"/>
      </a:hlink>
      <a:folHlink>
        <a:srgbClr val="86569A"/>
      </a:folHlink>
    </a:clrScheme>
    <a:fontScheme name="Office-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2000" dirty="0" err="1" smtClean="0">
            <a:latin typeface="Arial"/>
          </a:defRPr>
        </a:defPPr>
      </a:lstStyle>
    </a:txDef>
  </a:objectDefaults>
  <a:extraClrSchemeLst>
    <a:extraClrScheme>
      <a:clrScheme name="Office-Design 1">
        <a:dk1>
          <a:srgbClr val="000000"/>
        </a:dk1>
        <a:lt1>
          <a:srgbClr val="CCDBF1"/>
        </a:lt1>
        <a:dk2>
          <a:srgbClr val="0047B9"/>
        </a:dk2>
        <a:lt2>
          <a:srgbClr val="FFFFFF"/>
        </a:lt2>
        <a:accent1>
          <a:srgbClr val="F32B42"/>
        </a:accent1>
        <a:accent2>
          <a:srgbClr val="8C8C8C"/>
        </a:accent2>
        <a:accent3>
          <a:srgbClr val="E2EAF7"/>
        </a:accent3>
        <a:accent4>
          <a:srgbClr val="000000"/>
        </a:accent4>
        <a:accent5>
          <a:srgbClr val="F8ACB0"/>
        </a:accent5>
        <a:accent6>
          <a:srgbClr val="7E7E7E"/>
        </a:accent6>
        <a:hlink>
          <a:srgbClr val="FF5D00"/>
        </a:hlink>
        <a:folHlink>
          <a:srgbClr val="00954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BB9829B882D5140ABCB1E6D3420C654" ma:contentTypeVersion="3" ma:contentTypeDescription="Ein neues Dokument erstellen." ma:contentTypeScope="" ma:versionID="1ff9e6813f6a021bde9a3ac2c4138494">
  <xsd:schema xmlns:xsd="http://www.w3.org/2001/XMLSchema" xmlns:xs="http://www.w3.org/2001/XMLSchema" xmlns:p="http://schemas.microsoft.com/office/2006/metadata/properties" xmlns:ns2="3a707376-506f-4a54-80e5-a7ee0ccf0c22" targetNamespace="http://schemas.microsoft.com/office/2006/metadata/properties" ma:root="true" ma:fieldsID="883b05fc9c717fcbf1c87f95fccc8ba6" ns2:_="">
    <xsd:import namespace="3a707376-506f-4a54-80e5-a7ee0ccf0c22"/>
    <xsd:element name="properties">
      <xsd:complexType>
        <xsd:sequence>
          <xsd:element name="documentManagement">
            <xsd:complexType>
              <xsd:all>
                <xsd:element ref="ns2:Sprache"/>
                <xsd:element ref="ns2:Schlagwort" minOccurs="0"/>
                <xsd:element ref="ns2:Lebenslage" minOccurs="0"/>
                <xsd:element ref="ns2:Dokumentart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707376-506f-4a54-80e5-a7ee0ccf0c22" elementFormDefault="qualified">
    <xsd:import namespace="http://schemas.microsoft.com/office/2006/documentManagement/types"/>
    <xsd:import namespace="http://schemas.microsoft.com/office/infopath/2007/PartnerControls"/>
    <xsd:element name="Sprache" ma:index="8" ma:displayName="Sprache" ma:list="{b9639cf6-53b2-4389-8f23-7c1c595028e4}" ma:internalName="Sprache" ma:showField="Title" ma:web="a5a6fbda-85d9-4a9d-8af4-c3f22b4a9a96">
      <xsd:simpleType>
        <xsd:restriction base="dms:Lookup"/>
      </xsd:simpleType>
    </xsd:element>
    <xsd:element name="Schlagwort" ma:index="9" nillable="true" ma:displayName="Rubrik" ma:list="{a914721d-07cd-495d-abcc-35db959a8d45}" ma:internalName="Schlagwort" ma:readOnly="false" ma:showField="Title" ma:web="a5a6fbda-85d9-4a9d-8af4-c3f22b4a9a96" ma:requiredMultiChoice="tru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ebenslage" ma:index="10" nillable="true" ma:displayName="Lebenslage" ma:list="{5aa0c198-4f69-4978-a7bb-f3ade91d144f}" ma:internalName="Lebenslage" ma:showField="Title" ma:web="a5a6fbda-85d9-4a9d-8af4-c3f22b4a9a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okumentart" ma:index="11" ma:displayName="Dokumentart" ma:list="{40e01764-7811-4deb-8fbf-ddcff89b72d9}" ma:internalName="Dokumentart" ma:readOnly="false" ma:showField="Title" ma:web="a5a6fbda-85d9-4a9d-8af4-c3f22b4a9a96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 ma:readOnly="tru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prache xmlns="3a707376-506f-4a54-80e5-a7ee0ccf0c22">1</Sprache>
    <Schlagwort xmlns="3a707376-506f-4a54-80e5-a7ee0ccf0c22">
      <Value>149</Value>
      <Value>155</Value>
      <Value>1</Value>
      <Value>150</Value>
    </Schlagwort>
    <Dokumentart xmlns="3a707376-506f-4a54-80e5-a7ee0ccf0c22">2</Dokumentart>
    <Lebenslage xmlns="3a707376-506f-4a54-80e5-a7ee0ccf0c22"/>
  </documentManagement>
</p:properties>
</file>

<file path=customXml/item3.xml><?xml version="1.0" encoding="utf-8"?>
<LongProperties xmlns="http://schemas.microsoft.com/office/2006/metadata/longProperties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D764D9-4867-4B61-A090-A28E5B8CCE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707376-506f-4a54-80e5-a7ee0ccf0c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E43284-5452-4815-8772-BEA061DA53D9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terms/"/>
    <ds:schemaRef ds:uri="http://www.w3.org/XML/1998/namespace"/>
    <ds:schemaRef ds:uri="3ec8524a-360a-45d4-b7b1-49199f42b79b"/>
    <ds:schemaRef ds:uri="http://schemas.microsoft.com/office/2006/metadata/properties"/>
    <ds:schemaRef ds:uri="http://purl.org/dc/elements/1.1/"/>
    <ds:schemaRef ds:uri="http://schemas.microsoft.com/office/infopath/2007/PartnerControls"/>
    <ds:schemaRef ds:uri="3a707376-506f-4a54-80e5-a7ee0ccf0c22"/>
  </ds:schemaRefs>
</ds:datastoreItem>
</file>

<file path=customXml/itemProps3.xml><?xml version="1.0" encoding="utf-8"?>
<ds:datastoreItem xmlns:ds="http://schemas.openxmlformats.org/officeDocument/2006/customXml" ds:itemID="{127EC1BB-5971-4167-BF15-3110E1B5EC85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EE7FB4F2-1982-4D8F-808C-8CBCA3F07F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t3_ver_b_en</Template>
  <TotalTime>7527</TotalTime>
  <Words>935</Words>
  <Application>Microsoft Macintosh PowerPoint</Application>
  <PresentationFormat>On-screen Show (16:9)</PresentationFormat>
  <Paragraphs>226</Paragraphs>
  <Slides>34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ＭＳ Ｐゴシック</vt:lpstr>
      <vt:lpstr>Arial</vt:lpstr>
      <vt:lpstr>Times</vt:lpstr>
      <vt:lpstr>t3_ver_b_en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titel bildmotiv</dc:subject>
  <dc:creator>oscargv@usal.es</dc:creator>
  <cp:keywords/>
  <dc:description/>
  <cp:lastModifiedBy>oscargv@usal.es</cp:lastModifiedBy>
  <cp:revision>62</cp:revision>
  <dcterms:created xsi:type="dcterms:W3CDTF">2023-01-05T13:16:27Z</dcterms:created>
  <dcterms:modified xsi:type="dcterms:W3CDTF">2026-04-22T08:42:15Z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ebenslage">
    <vt:lpwstr/>
  </property>
  <property fmtid="{D5CDD505-2E9C-101B-9397-08002B2CF9AE}" pid="3" name="ContentType">
    <vt:lpwstr>Dokument</vt:lpwstr>
  </property>
  <property fmtid="{D5CDD505-2E9C-101B-9397-08002B2CF9AE}" pid="4" name="Schlagwort">
    <vt:lpwstr>149;#Corporate Design CD;#155;#Powerpoint;#1;#Presse- und Öffentlichkeitsarbeit;#150;#Vorlage</vt:lpwstr>
  </property>
  <property fmtid="{D5CDD505-2E9C-101B-9397-08002B2CF9AE}" pid="5" name="Sprache">
    <vt:lpwstr>1</vt:lpwstr>
  </property>
  <property fmtid="{D5CDD505-2E9C-101B-9397-08002B2CF9AE}" pid="6" name="Dokumentart">
    <vt:lpwstr>2</vt:lpwstr>
  </property>
  <property fmtid="{D5CDD505-2E9C-101B-9397-08002B2CF9AE}" pid="7" name="ContentTypeId">
    <vt:lpwstr>0x0101003BB9829B882D5140ABCB1E6D3420C654</vt:lpwstr>
  </property>
</Properties>
</file>